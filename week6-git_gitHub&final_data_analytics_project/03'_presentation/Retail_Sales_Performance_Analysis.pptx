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4" d="100"/>
          <a:sy n="84" d="100"/>
        </p:scale>
        <p:origin x="595" y="29"/>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title>
      <c:layout/>
      <c:overlay val="0"/>
    </c:title>
    <c:autoTitleDeleted val="0"/>
    <c:plotArea>
      <c:layout/>
      <c:lineChart>
        <c:grouping val="standard"/>
        <c:varyColors val="0"/>
        <c:ser>
          <c:idx val="0"/>
          <c:order val="0"/>
          <c:tx>
            <c:strRef>
              <c:f>Sheet1!$B$1</c:f>
              <c:strCache>
                <c:ptCount val="1"/>
                <c:pt idx="0">
                  <c:v>Sales (₹K)</c:v>
                </c:pt>
              </c:strCache>
            </c:strRef>
          </c:tx>
          <c:spPr>
            <a:ln w="38100">
              <a:solidFill>
                <a:srgbClr val="2563EB"/>
              </a:solidFill>
            </a:ln>
          </c:spPr>
          <c:marker>
            <c:symbol val="none"/>
          </c:marker>
          <c:cat>
            <c:strRef>
              <c:f>Sheet1!$A$2:$A$5</c:f>
              <c:strCache>
                <c:ptCount val="4"/>
                <c:pt idx="0">
                  <c:v>June</c:v>
                </c:pt>
                <c:pt idx="1">
                  <c:v>July</c:v>
                </c:pt>
                <c:pt idx="2">
                  <c:v>August</c:v>
                </c:pt>
                <c:pt idx="3">
                  <c:v>September</c:v>
                </c:pt>
              </c:strCache>
            </c:strRef>
          </c:cat>
          <c:val>
            <c:numRef>
              <c:f>Sheet1!$B$2:$B$5</c:f>
              <c:numCache>
                <c:formatCode>General</c:formatCode>
                <c:ptCount val="4"/>
                <c:pt idx="0">
                  <c:v>643</c:v>
                </c:pt>
                <c:pt idx="1">
                  <c:v>377</c:v>
                </c:pt>
                <c:pt idx="2">
                  <c:v>298</c:v>
                </c:pt>
                <c:pt idx="3">
                  <c:v>185</c:v>
                </c:pt>
              </c:numCache>
            </c:numRef>
          </c:val>
          <c:smooth val="0"/>
        </c:ser>
        <c:dLbls>
          <c:showLegendKey val="0"/>
          <c:showVal val="0"/>
          <c:showCatName val="0"/>
          <c:showSerName val="0"/>
          <c:showPercent val="0"/>
          <c:showBubbleSize val="0"/>
        </c:dLbls>
        <c:smooth val="0"/>
        <c:axId val="186884152"/>
        <c:axId val="20729040"/>
      </c:lineChart>
      <c:catAx>
        <c:axId val="186884152"/>
        <c:scaling>
          <c:orientation val="minMax"/>
        </c:scaling>
        <c:delete val="0"/>
        <c:axPos val="b"/>
        <c:numFmt formatCode="General" sourceLinked="0"/>
        <c:majorTickMark val="out"/>
        <c:minorTickMark val="none"/>
        <c:tickLblPos val="nextTo"/>
        <c:crossAx val="20729040"/>
        <c:crosses val="autoZero"/>
        <c:auto val="1"/>
        <c:lblAlgn val="ctr"/>
        <c:lblOffset val="100"/>
        <c:noMultiLvlLbl val="0"/>
      </c:catAx>
      <c:valAx>
        <c:axId val="20729040"/>
        <c:scaling>
          <c:orientation val="minMax"/>
          <c:max val="700"/>
          <c:min val="0"/>
        </c:scaling>
        <c:delete val="0"/>
        <c:axPos val="l"/>
        <c:majorGridlines/>
        <c:numFmt formatCode="General" sourceLinked="1"/>
        <c:majorTickMark val="out"/>
        <c:minorTickMark val="none"/>
        <c:tickLblPos val="nextTo"/>
        <c:crossAx val="186884152"/>
        <c:crosses val="autoZero"/>
        <c:crossBetween val="between"/>
        <c:majorUnit val="10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title>
      <c:layout/>
      <c:overlay val="0"/>
    </c:title>
    <c:autoTitleDeleted val="0"/>
    <c:plotArea>
      <c:layout/>
      <c:barChart>
        <c:barDir val="bar"/>
        <c:grouping val="clustered"/>
        <c:varyColors val="1"/>
        <c:ser>
          <c:idx val="0"/>
          <c:order val="0"/>
          <c:tx>
            <c:strRef>
              <c:f>Sheet1!$B$1</c:f>
              <c:strCache>
                <c:ptCount val="1"/>
                <c:pt idx="0">
                  <c:v>Sales (₹K)</c:v>
                </c:pt>
              </c:strCache>
            </c:strRef>
          </c:tx>
          <c:invertIfNegative val="1"/>
          <c:cat>
            <c:strRef>
              <c:f>Sheet1!$A$2:$A$4</c:f>
              <c:strCache>
                <c:ptCount val="3"/>
                <c:pt idx="0">
                  <c:v>South</c:v>
                </c:pt>
                <c:pt idx="1">
                  <c:v>East</c:v>
                </c:pt>
                <c:pt idx="2">
                  <c:v>Other Regions</c:v>
                </c:pt>
              </c:strCache>
            </c:strRef>
          </c:cat>
          <c:val>
            <c:numRef>
              <c:f>Sheet1!$B$2:$B$4</c:f>
              <c:numCache>
                <c:formatCode>General</c:formatCode>
                <c:ptCount val="3"/>
                <c:pt idx="0">
                  <c:v>415</c:v>
                </c:pt>
                <c:pt idx="1">
                  <c:v>410</c:v>
                </c:pt>
                <c:pt idx="2">
                  <c:v>675</c:v>
                </c:pt>
              </c:numCache>
            </c:numRef>
          </c:val>
        </c:ser>
        <c:dLbls>
          <c:showLegendKey val="0"/>
          <c:showVal val="0"/>
          <c:showCatName val="0"/>
          <c:showSerName val="0"/>
          <c:showPercent val="0"/>
          <c:showBubbleSize val="0"/>
        </c:dLbls>
        <c:gapWidth val="150"/>
        <c:axId val="184558712"/>
        <c:axId val="274735824"/>
      </c:barChart>
      <c:catAx>
        <c:axId val="184558712"/>
        <c:scaling>
          <c:orientation val="minMax"/>
        </c:scaling>
        <c:delete val="0"/>
        <c:axPos val="l"/>
        <c:numFmt formatCode="General" sourceLinked="0"/>
        <c:majorTickMark val="out"/>
        <c:minorTickMark val="none"/>
        <c:tickLblPos val="nextTo"/>
        <c:crossAx val="274735824"/>
        <c:crosses val="autoZero"/>
        <c:auto val="1"/>
        <c:lblAlgn val="ctr"/>
        <c:lblOffset val="100"/>
        <c:noMultiLvlLbl val="0"/>
      </c:catAx>
      <c:valAx>
        <c:axId val="274735824"/>
        <c:scaling>
          <c:orientation val="minMax"/>
          <c:max val="750"/>
          <c:min val="0"/>
        </c:scaling>
        <c:delete val="0"/>
        <c:axPos val="b"/>
        <c:majorGridlines/>
        <c:numFmt formatCode="General" sourceLinked="1"/>
        <c:majorTickMark val="out"/>
        <c:minorTickMark val="none"/>
        <c:tickLblPos val="nextTo"/>
        <c:crossAx val="184558712"/>
        <c:crosses val="autoZero"/>
        <c:crossBetween val="between"/>
        <c:majorUnit val="150"/>
      </c:valAx>
    </c:plotArea>
    <c:plotVisOnly val="1"/>
    <c:dispBlanksAs val="gap"/>
    <c:showDLblsOverMax val="1"/>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c:style val="2"/>
  <c:chart>
    <c:title>
      <c:layout/>
      <c:overlay val="0"/>
    </c:title>
    <c:autoTitleDeleted val="0"/>
    <c:plotArea>
      <c:layout/>
      <c:doughnutChart>
        <c:varyColors val="1"/>
        <c:ser>
          <c:idx val="0"/>
          <c:order val="0"/>
          <c:tx>
            <c:strRef>
              <c:f>Sheet1!$B$1</c:f>
              <c:strCache>
                <c:ptCount val="1"/>
                <c:pt idx="0">
                  <c:v>Share</c:v>
                </c:pt>
              </c:strCache>
            </c:strRef>
          </c:tx>
          <c:cat>
            <c:strRef>
              <c:f>Sheet1!$A$2:$A$3</c:f>
              <c:strCache>
                <c:ptCount val="2"/>
                <c:pt idx="0">
                  <c:v>Storage</c:v>
                </c:pt>
                <c:pt idx="1">
                  <c:v>Other Categories</c:v>
                </c:pt>
              </c:strCache>
            </c:strRef>
          </c:cat>
          <c:val>
            <c:numRef>
              <c:f>Sheet1!$B$2:$B$3</c:f>
              <c:numCache>
                <c:formatCode>General</c:formatCode>
                <c:ptCount val="2"/>
                <c:pt idx="0">
                  <c:v>34</c:v>
                </c:pt>
                <c:pt idx="1">
                  <c:v>66</c:v>
                </c:pt>
              </c:numCache>
            </c:numRef>
          </c:val>
        </c:ser>
        <c:dLbls>
          <c:showLegendKey val="0"/>
          <c:showVal val="0"/>
          <c:showCatName val="0"/>
          <c:showSerName val="0"/>
          <c:showPercent val="0"/>
          <c:showBubbleSize val="0"/>
          <c:showLeaderLines val="1"/>
        </c:dLbls>
        <c:firstSliceAng val="0"/>
        <c:holeSize val="50"/>
      </c:doughnutChart>
    </c:plotArea>
    <c:legend>
      <c:legendPos val="b"/>
      <c:layout/>
      <c:overlay val="0"/>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39898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morning/afternoon everyone. Today I'll walk you through a complete sales performance analysis covering four months of transactional data — from raw cleaning in Python through to the final interactive Power BI dashboard, and the business recommendations that came out of it.</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856695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business had noticed sales were slipping quarter over quarter, but didn't have a clear picture of why, or where the strongest opportunities still were. That's the gap this project set out to close.</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8500517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workflow starts with two raw CSV files, gets cleaned and explored in Python, then feeds into a Power BI star-schema model for the final interactive dashboard. Every number I'll show you today is traceable back through that same pipeline.</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8994751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any analysis happened, the raw data had real issues — missing values, a duplicate transaction, even a negative quantity that was clearly a data entry error. Every one of those was resolved systematically in Python, so everything from here on is built on a clean foundation.</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8280810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At a high level, the business generated ₹1.5 million in sales with a healthy 40.36% profit margin — so despite what you're about to see in the trend, the underlying unit economics are strong. This is an important distinction: this is a demand problem, not a cost or pricing problem.</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7185715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single most important chart in the deck. Revenue didn't dip once and recover — it fell every month, four months in a row, for a total decline of about 71%. This is the trend the rest of our recommendations are built around.</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1279198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While overall revenue is falling, it's not falling evenly — South and East remain the strongest markets, and Storage is clearly the leading product category. These are the areas of proven strength we want to protect and build on.</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4732892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pattern that's easy to miss in the bigger trend is payment method performance — three channels perform almost identically, but Credit Card consistently lags behind. That gap is worth investigating on its own.</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4435498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Based on everything we've seen, there are three concrete actions: first, treat the Q3 decline as urgent and diagnose its root cause before Q4 planning locks in; second, protect and reinforce our strongest region-category combination rather than chasing weaker ones; and third, look into why Credit Card is consistently underperforming — that's a smaller fix with a clear potential payoff.</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1962312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That covers the full analysis — from raw data to actionable recommendations. Everything here is reproducible and available in the project repository, including the interactive dashboard if you'd like to explore the data yourselves. Happy to take any questions.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9157310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9/11/2026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9/11/2026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chart" Target="../charts/char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229600" y="1097280"/>
            <a:ext cx="2560320" cy="22860"/>
          </a:xfrm>
          <a:prstGeom prst="rect">
            <a:avLst/>
          </a:prstGeom>
          <a:solidFill>
            <a:srgbClr val="1235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641080" y="1417319"/>
            <a:ext cx="2560320" cy="22860"/>
          </a:xfrm>
          <a:prstGeom prst="rect">
            <a:avLst/>
          </a:prstGeom>
          <a:solidFill>
            <a:srgbClr val="1235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9052560" y="1737360"/>
            <a:ext cx="2560320" cy="22860"/>
          </a:xfrm>
          <a:prstGeom prst="rect">
            <a:avLst/>
          </a:prstGeom>
          <a:solidFill>
            <a:srgbClr val="1235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9464040" y="2057400"/>
            <a:ext cx="2560320" cy="22860"/>
          </a:xfrm>
          <a:prstGeom prst="rect">
            <a:avLst/>
          </a:prstGeom>
          <a:solidFill>
            <a:srgbClr val="1235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9875520" y="2377439"/>
            <a:ext cx="2560320" cy="22860"/>
          </a:xfrm>
          <a:prstGeom prst="rect">
            <a:avLst/>
          </a:prstGeom>
          <a:solidFill>
            <a:srgbClr val="1235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2148840"/>
            <a:ext cx="10058400" cy="1188720"/>
          </a:xfrm>
          <a:prstGeom prst="rect">
            <a:avLst/>
          </a:prstGeom>
          <a:noFill/>
        </p:spPr>
        <p:txBody>
          <a:bodyPr wrap="square" anchor="ctr">
            <a:spAutoFit/>
          </a:bodyPr>
          <a:lstStyle/>
          <a:p>
            <a:pPr algn="l"/>
            <a:r>
              <a:rPr sz="4200" b="1">
                <a:solidFill>
                  <a:srgbClr val="FFFFFF"/>
                </a:solidFill>
                <a:latin typeface="Segoe UI"/>
              </a:rPr>
              <a:t>Retail Sales Performance Analytics</a:t>
            </a:r>
          </a:p>
        </p:txBody>
      </p:sp>
      <p:sp>
        <p:nvSpPr>
          <p:cNvPr id="9" name="TextBox 8"/>
          <p:cNvSpPr txBox="1"/>
          <p:nvPr/>
        </p:nvSpPr>
        <p:spPr>
          <a:xfrm>
            <a:off x="960120" y="3154680"/>
            <a:ext cx="10058400" cy="594360"/>
          </a:xfrm>
          <a:prstGeom prst="rect">
            <a:avLst/>
          </a:prstGeom>
          <a:noFill/>
        </p:spPr>
        <p:txBody>
          <a:bodyPr wrap="square" anchor="ctr">
            <a:spAutoFit/>
          </a:bodyPr>
          <a:lstStyle/>
          <a:p>
            <a:pPr algn="l"/>
            <a:r>
              <a:rPr sz="2100" b="0">
                <a:solidFill>
                  <a:srgbClr val="3B82F6"/>
                </a:solidFill>
                <a:latin typeface="Segoe UI"/>
              </a:rPr>
              <a:t>End-to-End Data Analysis: Python → Power BI</a:t>
            </a:r>
          </a:p>
        </p:txBody>
      </p:sp>
      <p:sp>
        <p:nvSpPr>
          <p:cNvPr id="10" name="TextBox 9"/>
          <p:cNvSpPr txBox="1"/>
          <p:nvPr/>
        </p:nvSpPr>
        <p:spPr>
          <a:xfrm>
            <a:off x="960120" y="4892040"/>
            <a:ext cx="4572000" cy="822960"/>
          </a:xfrm>
          <a:prstGeom prst="rect">
            <a:avLst/>
          </a:prstGeom>
          <a:noFill/>
        </p:spPr>
        <p:txBody>
          <a:bodyPr wrap="square" anchor="ctr">
            <a:spAutoFit/>
          </a:bodyPr>
          <a:lstStyle/>
          <a:p>
            <a:pPr algn="l"/>
            <a:r>
              <a:rPr sz="1600" b="0">
                <a:solidFill>
                  <a:srgbClr val="DBEAFE"/>
                </a:solidFill>
                <a:latin typeface="Segoe UI"/>
              </a:rPr>
              <a:t>Prepared by Brojo Mohan Dutta
June – September 2024</a:t>
            </a:r>
          </a:p>
        </p:txBody>
      </p:sp>
      <p:sp>
        <p:nvSpPr>
          <p:cNvPr id="11" name="TextBox 10"/>
          <p:cNvSpPr txBox="1"/>
          <p:nvPr/>
        </p:nvSpPr>
        <p:spPr>
          <a:xfrm>
            <a:off x="6126480" y="5897880"/>
            <a:ext cx="5120640" cy="365760"/>
          </a:xfrm>
          <a:prstGeom prst="rect">
            <a:avLst/>
          </a:prstGeom>
          <a:noFill/>
        </p:spPr>
        <p:txBody>
          <a:bodyPr wrap="square" anchor="ctr">
            <a:spAutoFit/>
          </a:bodyPr>
          <a:lstStyle/>
          <a:p>
            <a:pPr algn="r"/>
            <a:r>
              <a:rPr sz="1100" b="0">
                <a:solidFill>
                  <a:srgbClr val="64748B"/>
                </a:solidFill>
                <a:latin typeface="Segoe UI"/>
              </a:rPr>
              <a:t>Raw Data → Python → Power BI → Business Insights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1155680" cy="502920"/>
          </a:xfrm>
          <a:prstGeom prst="rect">
            <a:avLst/>
          </a:prstGeom>
          <a:noFill/>
        </p:spPr>
        <p:txBody>
          <a:bodyPr wrap="square" anchor="ctr">
            <a:spAutoFit/>
          </a:bodyPr>
          <a:lstStyle/>
          <a:p>
            <a:pPr algn="l"/>
            <a:r>
              <a:rPr sz="3000" b="1">
                <a:solidFill>
                  <a:srgbClr val="172033"/>
                </a:solidFill>
                <a:latin typeface="Segoe UI"/>
              </a:rPr>
              <a:t>The Business Problem</a:t>
            </a:r>
          </a:p>
        </p:txBody>
      </p:sp>
      <p:sp>
        <p:nvSpPr>
          <p:cNvPr id="4" name="TextBox 3"/>
          <p:cNvSpPr txBox="1"/>
          <p:nvPr/>
        </p:nvSpPr>
        <p:spPr>
          <a:xfrm>
            <a:off x="530352" y="841248"/>
            <a:ext cx="10972800" cy="365760"/>
          </a:xfrm>
          <a:prstGeom prst="rect">
            <a:avLst/>
          </a:prstGeom>
          <a:noFill/>
        </p:spPr>
        <p:txBody>
          <a:bodyPr wrap="square" anchor="ctr">
            <a:spAutoFit/>
          </a:bodyPr>
          <a:lstStyle/>
          <a:p>
            <a:pPr algn="l"/>
            <a:r>
              <a:rPr sz="1500" b="0">
                <a:solidFill>
                  <a:srgbClr val="64748B"/>
                </a:solidFill>
                <a:latin typeface="Segoe UI"/>
              </a:rPr>
              <a:t>The business observed a sharp revenue slowdown across Q3 2024.</a:t>
            </a:r>
          </a:p>
        </p:txBody>
      </p:sp>
      <p:sp>
        <p:nvSpPr>
          <p:cNvPr id="5" name="Rounded Rectangle 4"/>
          <p:cNvSpPr/>
          <p:nvPr/>
        </p:nvSpPr>
        <p:spPr>
          <a:xfrm>
            <a:off x="640080" y="1828800"/>
            <a:ext cx="4206240" cy="3383280"/>
          </a:xfrm>
          <a:prstGeom prst="roundRect">
            <a:avLst/>
          </a:prstGeom>
          <a:solidFill>
            <a:srgbClr val="FFFFFF"/>
          </a:solidFill>
          <a:ln>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2148840"/>
            <a:ext cx="3749039" cy="1188720"/>
          </a:xfrm>
          <a:prstGeom prst="rect">
            <a:avLst/>
          </a:prstGeom>
          <a:noFill/>
        </p:spPr>
        <p:txBody>
          <a:bodyPr wrap="square" anchor="ctr">
            <a:spAutoFit/>
          </a:bodyPr>
          <a:lstStyle/>
          <a:p>
            <a:pPr algn="ctr"/>
            <a:r>
              <a:rPr sz="6800" b="1">
                <a:solidFill>
                  <a:srgbClr val="DC2626"/>
                </a:solidFill>
                <a:latin typeface="Segoe UI"/>
              </a:rPr>
              <a:t>71%</a:t>
            </a:r>
          </a:p>
        </p:txBody>
      </p:sp>
      <p:sp>
        <p:nvSpPr>
          <p:cNvPr id="7" name="TextBox 6"/>
          <p:cNvSpPr txBox="1"/>
          <p:nvPr/>
        </p:nvSpPr>
        <p:spPr>
          <a:xfrm>
            <a:off x="914400" y="3291840"/>
            <a:ext cx="3657600" cy="731520"/>
          </a:xfrm>
          <a:prstGeom prst="rect">
            <a:avLst/>
          </a:prstGeom>
          <a:noFill/>
        </p:spPr>
        <p:txBody>
          <a:bodyPr wrap="square" anchor="ctr">
            <a:spAutoFit/>
          </a:bodyPr>
          <a:lstStyle/>
          <a:p>
            <a:pPr algn="ctr"/>
            <a:r>
              <a:rPr sz="2000" b="1">
                <a:solidFill>
                  <a:srgbClr val="172033"/>
                </a:solidFill>
                <a:latin typeface="Segoe UI"/>
              </a:rPr>
              <a:t>Revenue decline
June → September</a:t>
            </a:r>
          </a:p>
        </p:txBody>
      </p:sp>
      <p:sp>
        <p:nvSpPr>
          <p:cNvPr id="8" name="Rounded Rectangle 7"/>
          <p:cNvSpPr/>
          <p:nvPr/>
        </p:nvSpPr>
        <p:spPr>
          <a:xfrm>
            <a:off x="5212080" y="1828800"/>
            <a:ext cx="2011680" cy="2468880"/>
          </a:xfrm>
          <a:prstGeom prst="roundRect">
            <a:avLst/>
          </a:prstGeom>
          <a:solidFill>
            <a:srgbClr val="FFFFFF"/>
          </a:solidFill>
          <a:ln>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212080" y="2103120"/>
            <a:ext cx="2011680" cy="502920"/>
          </a:xfrm>
          <a:prstGeom prst="rect">
            <a:avLst/>
          </a:prstGeom>
          <a:noFill/>
        </p:spPr>
        <p:txBody>
          <a:bodyPr wrap="square" anchor="ctr">
            <a:spAutoFit/>
          </a:bodyPr>
          <a:lstStyle/>
          <a:p>
            <a:pPr algn="ctr"/>
            <a:r>
              <a:rPr sz="1300" b="1">
                <a:solidFill>
                  <a:srgbClr val="2563EB"/>
                </a:solidFill>
                <a:latin typeface="Segoe UI"/>
              </a:rPr>
              <a:t>01 — WHERE?</a:t>
            </a:r>
          </a:p>
        </p:txBody>
      </p:sp>
      <p:sp>
        <p:nvSpPr>
          <p:cNvPr id="10" name="TextBox 9"/>
          <p:cNvSpPr txBox="1"/>
          <p:nvPr/>
        </p:nvSpPr>
        <p:spPr>
          <a:xfrm>
            <a:off x="5349240" y="2788920"/>
            <a:ext cx="1737360" cy="1005840"/>
          </a:xfrm>
          <a:prstGeom prst="rect">
            <a:avLst/>
          </a:prstGeom>
          <a:noFill/>
        </p:spPr>
        <p:txBody>
          <a:bodyPr wrap="square" anchor="ctr">
            <a:spAutoFit/>
          </a:bodyPr>
          <a:lstStyle/>
          <a:p>
            <a:pPr algn="ctr"/>
            <a:r>
              <a:rPr sz="1600" b="0">
                <a:solidFill>
                  <a:srgbClr val="172033"/>
                </a:solidFill>
                <a:latin typeface="Segoe UI"/>
              </a:rPr>
              <a:t>Where is revenue
coming from?</a:t>
            </a:r>
          </a:p>
        </p:txBody>
      </p:sp>
      <p:sp>
        <p:nvSpPr>
          <p:cNvPr id="11" name="Rounded Rectangle 10"/>
          <p:cNvSpPr/>
          <p:nvPr/>
        </p:nvSpPr>
        <p:spPr>
          <a:xfrm>
            <a:off x="7452360" y="1828800"/>
            <a:ext cx="2011680" cy="2468880"/>
          </a:xfrm>
          <a:prstGeom prst="roundRect">
            <a:avLst/>
          </a:prstGeom>
          <a:solidFill>
            <a:srgbClr val="FFFFFF"/>
          </a:solidFill>
          <a:ln>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52360" y="2103120"/>
            <a:ext cx="2011680" cy="502920"/>
          </a:xfrm>
          <a:prstGeom prst="rect">
            <a:avLst/>
          </a:prstGeom>
          <a:noFill/>
        </p:spPr>
        <p:txBody>
          <a:bodyPr wrap="square" anchor="ctr">
            <a:spAutoFit/>
          </a:bodyPr>
          <a:lstStyle/>
          <a:p>
            <a:pPr algn="ctr"/>
            <a:r>
              <a:rPr sz="1300" b="1">
                <a:solidFill>
                  <a:srgbClr val="2563EB"/>
                </a:solidFill>
                <a:latin typeface="Segoe UI"/>
              </a:rPr>
              <a:t>02 — WHY?</a:t>
            </a:r>
          </a:p>
        </p:txBody>
      </p:sp>
      <p:sp>
        <p:nvSpPr>
          <p:cNvPr id="13" name="TextBox 12"/>
          <p:cNvSpPr txBox="1"/>
          <p:nvPr/>
        </p:nvSpPr>
        <p:spPr>
          <a:xfrm>
            <a:off x="7589520" y="2788920"/>
            <a:ext cx="1737360" cy="1005840"/>
          </a:xfrm>
          <a:prstGeom prst="rect">
            <a:avLst/>
          </a:prstGeom>
          <a:noFill/>
        </p:spPr>
        <p:txBody>
          <a:bodyPr wrap="square" anchor="ctr">
            <a:spAutoFit/>
          </a:bodyPr>
          <a:lstStyle/>
          <a:p>
            <a:pPr algn="ctr"/>
            <a:r>
              <a:rPr sz="1600" b="0">
                <a:solidFill>
                  <a:srgbClr val="172033"/>
                </a:solidFill>
                <a:latin typeface="Segoe UI"/>
              </a:rPr>
              <a:t>Why is revenue
declining?</a:t>
            </a:r>
          </a:p>
        </p:txBody>
      </p:sp>
      <p:sp>
        <p:nvSpPr>
          <p:cNvPr id="14" name="Rounded Rectangle 13"/>
          <p:cNvSpPr/>
          <p:nvPr/>
        </p:nvSpPr>
        <p:spPr>
          <a:xfrm>
            <a:off x="9692640" y="1828800"/>
            <a:ext cx="2011680" cy="2468880"/>
          </a:xfrm>
          <a:prstGeom prst="roundRect">
            <a:avLst/>
          </a:prstGeom>
          <a:solidFill>
            <a:srgbClr val="FFFFFF"/>
          </a:solidFill>
          <a:ln>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692640" y="2103120"/>
            <a:ext cx="2011680" cy="502920"/>
          </a:xfrm>
          <a:prstGeom prst="rect">
            <a:avLst/>
          </a:prstGeom>
          <a:noFill/>
        </p:spPr>
        <p:txBody>
          <a:bodyPr wrap="square" anchor="ctr">
            <a:spAutoFit/>
          </a:bodyPr>
          <a:lstStyle/>
          <a:p>
            <a:pPr algn="ctr"/>
            <a:r>
              <a:rPr sz="1300" b="1">
                <a:solidFill>
                  <a:srgbClr val="2563EB"/>
                </a:solidFill>
                <a:latin typeface="Segoe UI"/>
              </a:rPr>
              <a:t>03 — WHAT NEXT?</a:t>
            </a:r>
          </a:p>
        </p:txBody>
      </p:sp>
      <p:sp>
        <p:nvSpPr>
          <p:cNvPr id="16" name="TextBox 15"/>
          <p:cNvSpPr txBox="1"/>
          <p:nvPr/>
        </p:nvSpPr>
        <p:spPr>
          <a:xfrm>
            <a:off x="9829800" y="2788920"/>
            <a:ext cx="1737360" cy="1005840"/>
          </a:xfrm>
          <a:prstGeom prst="rect">
            <a:avLst/>
          </a:prstGeom>
          <a:noFill/>
        </p:spPr>
        <p:txBody>
          <a:bodyPr wrap="square" anchor="ctr">
            <a:spAutoFit/>
          </a:bodyPr>
          <a:lstStyle/>
          <a:p>
            <a:pPr algn="ctr"/>
            <a:r>
              <a:rPr sz="1600" b="0">
                <a:solidFill>
                  <a:srgbClr val="172033"/>
                </a:solidFill>
                <a:latin typeface="Segoe UI"/>
              </a:rPr>
              <a:t>What should the
business do next?</a:t>
            </a:r>
          </a:p>
        </p:txBody>
      </p:sp>
      <p:sp>
        <p:nvSpPr>
          <p:cNvPr id="17" name="TextBox 16"/>
          <p:cNvSpPr txBox="1"/>
          <p:nvPr/>
        </p:nvSpPr>
        <p:spPr>
          <a:xfrm>
            <a:off x="640080" y="5806440"/>
            <a:ext cx="10881360" cy="457200"/>
          </a:xfrm>
          <a:prstGeom prst="rect">
            <a:avLst/>
          </a:prstGeom>
          <a:noFill/>
        </p:spPr>
        <p:txBody>
          <a:bodyPr wrap="square" anchor="ctr">
            <a:spAutoFit/>
          </a:bodyPr>
          <a:lstStyle/>
          <a:p>
            <a:pPr algn="ctr"/>
            <a:r>
              <a:rPr sz="1700" b="1">
                <a:solidFill>
                  <a:srgbClr val="64748B"/>
                </a:solidFill>
                <a:latin typeface="Segoe UI"/>
              </a:rPr>
              <a:t>60 clean transactions → 3 data-backed actions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1155680" cy="502920"/>
          </a:xfrm>
          <a:prstGeom prst="rect">
            <a:avLst/>
          </a:prstGeom>
          <a:noFill/>
        </p:spPr>
        <p:txBody>
          <a:bodyPr wrap="square" anchor="ctr">
            <a:spAutoFit/>
          </a:bodyPr>
          <a:lstStyle/>
          <a:p>
            <a:pPr algn="l"/>
            <a:r>
              <a:rPr sz="3000" b="1">
                <a:solidFill>
                  <a:srgbClr val="172033"/>
                </a:solidFill>
                <a:latin typeface="Segoe UI"/>
              </a:rPr>
              <a:t>From Raw Data to Business Insight</a:t>
            </a:r>
          </a:p>
        </p:txBody>
      </p:sp>
      <p:sp>
        <p:nvSpPr>
          <p:cNvPr id="4" name="TextBox 3"/>
          <p:cNvSpPr txBox="1"/>
          <p:nvPr/>
        </p:nvSpPr>
        <p:spPr>
          <a:xfrm>
            <a:off x="530352" y="841248"/>
            <a:ext cx="10972800" cy="365760"/>
          </a:xfrm>
          <a:prstGeom prst="rect">
            <a:avLst/>
          </a:prstGeom>
          <a:noFill/>
        </p:spPr>
        <p:txBody>
          <a:bodyPr wrap="square" anchor="ctr">
            <a:spAutoFit/>
          </a:bodyPr>
          <a:lstStyle/>
          <a:p>
            <a:pPr algn="l"/>
            <a:r>
              <a:rPr sz="1500" b="0">
                <a:solidFill>
                  <a:srgbClr val="64748B"/>
                </a:solidFill>
                <a:latin typeface="Segoe UI"/>
              </a:rPr>
              <a:t>Every insight is traceable through a structured analytical pipeline.</a:t>
            </a:r>
          </a:p>
        </p:txBody>
      </p:sp>
      <p:sp>
        <p:nvSpPr>
          <p:cNvPr id="5" name="Rounded Rectangle 4"/>
          <p:cNvSpPr/>
          <p:nvPr/>
        </p:nvSpPr>
        <p:spPr>
          <a:xfrm>
            <a:off x="594360" y="1600200"/>
            <a:ext cx="1920240" cy="822960"/>
          </a:xfrm>
          <a:prstGeom prst="roundRect">
            <a:avLst/>
          </a:prstGeom>
          <a:solidFill>
            <a:srgbClr val="FFFFFF"/>
          </a:solidFill>
          <a:ln>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719072"/>
            <a:ext cx="1737360" cy="502920"/>
          </a:xfrm>
          <a:prstGeom prst="rect">
            <a:avLst/>
          </a:prstGeom>
          <a:noFill/>
        </p:spPr>
        <p:txBody>
          <a:bodyPr wrap="square" anchor="ctr">
            <a:spAutoFit/>
          </a:bodyPr>
          <a:lstStyle/>
          <a:p>
            <a:pPr algn="ctr"/>
            <a:r>
              <a:rPr sz="1300" b="1">
                <a:solidFill>
                  <a:srgbClr val="172033"/>
                </a:solidFill>
                <a:latin typeface="Segoe UI"/>
              </a:rPr>
              <a:t>sales_fact.csv
Transactions</a:t>
            </a:r>
          </a:p>
        </p:txBody>
      </p:sp>
      <p:sp>
        <p:nvSpPr>
          <p:cNvPr id="7" name="Rounded Rectangle 6"/>
          <p:cNvSpPr/>
          <p:nvPr/>
        </p:nvSpPr>
        <p:spPr>
          <a:xfrm>
            <a:off x="594360" y="2560320"/>
            <a:ext cx="1920240" cy="822960"/>
          </a:xfrm>
          <a:prstGeom prst="roundRect">
            <a:avLst/>
          </a:prstGeom>
          <a:solidFill>
            <a:srgbClr val="FFFFFF"/>
          </a:solidFill>
          <a:ln>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2679192"/>
            <a:ext cx="1737360" cy="502920"/>
          </a:xfrm>
          <a:prstGeom prst="rect">
            <a:avLst/>
          </a:prstGeom>
          <a:noFill/>
        </p:spPr>
        <p:txBody>
          <a:bodyPr wrap="square" anchor="ctr">
            <a:spAutoFit/>
          </a:bodyPr>
          <a:lstStyle/>
          <a:p>
            <a:pPr algn="ctr"/>
            <a:r>
              <a:rPr sz="1300" b="1">
                <a:solidFill>
                  <a:srgbClr val="172033"/>
                </a:solidFill>
                <a:latin typeface="Segoe UI"/>
              </a:rPr>
              <a:t>products.csv
Product Dimension</a:t>
            </a:r>
          </a:p>
        </p:txBody>
      </p:sp>
      <p:sp>
        <p:nvSpPr>
          <p:cNvPr id="9" name="Rounded Rectangle 8"/>
          <p:cNvSpPr/>
          <p:nvPr/>
        </p:nvSpPr>
        <p:spPr>
          <a:xfrm>
            <a:off x="2788920" y="3246120"/>
            <a:ext cx="1600200" cy="822960"/>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788920" y="3355848"/>
            <a:ext cx="1600200" cy="594360"/>
          </a:xfrm>
          <a:prstGeom prst="rect">
            <a:avLst/>
          </a:prstGeom>
          <a:noFill/>
        </p:spPr>
        <p:txBody>
          <a:bodyPr wrap="square" anchor="ctr">
            <a:spAutoFit/>
          </a:bodyPr>
          <a:lstStyle/>
          <a:p>
            <a:pPr algn="ctr"/>
            <a:r>
              <a:rPr sz="1100" b="1">
                <a:solidFill>
                  <a:srgbClr val="FFFFFF"/>
                </a:solidFill>
                <a:latin typeface="Segoe UI"/>
              </a:rPr>
              <a:t>RAW CSVs</a:t>
            </a:r>
          </a:p>
        </p:txBody>
      </p:sp>
      <p:sp>
        <p:nvSpPr>
          <p:cNvPr id="11" name="Right Arrow 10"/>
          <p:cNvSpPr/>
          <p:nvPr/>
        </p:nvSpPr>
        <p:spPr>
          <a:xfrm>
            <a:off x="4416552" y="3511296"/>
            <a:ext cx="182880" cy="228600"/>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617720" y="3246120"/>
            <a:ext cx="1600200" cy="8229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17720" y="3355848"/>
            <a:ext cx="1600200" cy="594360"/>
          </a:xfrm>
          <a:prstGeom prst="rect">
            <a:avLst/>
          </a:prstGeom>
          <a:noFill/>
        </p:spPr>
        <p:txBody>
          <a:bodyPr wrap="square" anchor="ctr">
            <a:spAutoFit/>
          </a:bodyPr>
          <a:lstStyle/>
          <a:p>
            <a:pPr algn="ctr"/>
            <a:r>
              <a:rPr sz="1100" b="1">
                <a:solidFill>
                  <a:srgbClr val="FFFFFF"/>
                </a:solidFill>
                <a:latin typeface="Segoe UI"/>
              </a:rPr>
              <a:t>PYTHON
CLEANING</a:t>
            </a:r>
          </a:p>
        </p:txBody>
      </p:sp>
      <p:sp>
        <p:nvSpPr>
          <p:cNvPr id="14" name="Right Arrow 13"/>
          <p:cNvSpPr/>
          <p:nvPr/>
        </p:nvSpPr>
        <p:spPr>
          <a:xfrm>
            <a:off x="6245352" y="3511296"/>
            <a:ext cx="182880" cy="228600"/>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446520" y="3246120"/>
            <a:ext cx="1600200" cy="822960"/>
          </a:xfrm>
          <a:prstGeom prst="roundRect">
            <a:avLst/>
          </a:prstGeom>
          <a:solidFill>
            <a:srgbClr val="1235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46520" y="3355848"/>
            <a:ext cx="1600200" cy="594360"/>
          </a:xfrm>
          <a:prstGeom prst="rect">
            <a:avLst/>
          </a:prstGeom>
          <a:noFill/>
        </p:spPr>
        <p:txBody>
          <a:bodyPr wrap="square" anchor="ctr">
            <a:spAutoFit/>
          </a:bodyPr>
          <a:lstStyle/>
          <a:p>
            <a:pPr algn="ctr"/>
            <a:r>
              <a:rPr sz="1100" b="1">
                <a:solidFill>
                  <a:srgbClr val="FFFFFF"/>
                </a:solidFill>
                <a:latin typeface="Segoe UI"/>
              </a:rPr>
              <a:t>PYTHON
EDA</a:t>
            </a:r>
          </a:p>
        </p:txBody>
      </p:sp>
      <p:sp>
        <p:nvSpPr>
          <p:cNvPr id="17" name="Right Arrow 16"/>
          <p:cNvSpPr/>
          <p:nvPr/>
        </p:nvSpPr>
        <p:spPr>
          <a:xfrm>
            <a:off x="8074152" y="3511296"/>
            <a:ext cx="182880" cy="228600"/>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8275320" y="3246120"/>
            <a:ext cx="1600200" cy="822960"/>
          </a:xfrm>
          <a:prstGeom prst="round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75320" y="3355848"/>
            <a:ext cx="1600200" cy="594360"/>
          </a:xfrm>
          <a:prstGeom prst="rect">
            <a:avLst/>
          </a:prstGeom>
          <a:noFill/>
        </p:spPr>
        <p:txBody>
          <a:bodyPr wrap="square" anchor="ctr">
            <a:spAutoFit/>
          </a:bodyPr>
          <a:lstStyle/>
          <a:p>
            <a:pPr algn="ctr"/>
            <a:r>
              <a:rPr sz="1100" b="1">
                <a:solidFill>
                  <a:srgbClr val="FFFFFF"/>
                </a:solidFill>
                <a:latin typeface="Segoe UI"/>
              </a:rPr>
              <a:t>POWER BI
MODEL</a:t>
            </a:r>
          </a:p>
        </p:txBody>
      </p:sp>
      <p:sp>
        <p:nvSpPr>
          <p:cNvPr id="20" name="Right Arrow 19"/>
          <p:cNvSpPr/>
          <p:nvPr/>
        </p:nvSpPr>
        <p:spPr>
          <a:xfrm>
            <a:off x="9902952" y="3511296"/>
            <a:ext cx="182880" cy="228600"/>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10104120" y="3246120"/>
            <a:ext cx="1600200" cy="822960"/>
          </a:xfrm>
          <a:prstGeom prst="round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104120" y="3355848"/>
            <a:ext cx="1600200" cy="594360"/>
          </a:xfrm>
          <a:prstGeom prst="rect">
            <a:avLst/>
          </a:prstGeom>
          <a:noFill/>
        </p:spPr>
        <p:txBody>
          <a:bodyPr wrap="square" anchor="ctr">
            <a:spAutoFit/>
          </a:bodyPr>
          <a:lstStyle/>
          <a:p>
            <a:pPr algn="ctr"/>
            <a:r>
              <a:rPr sz="1100" b="1">
                <a:solidFill>
                  <a:srgbClr val="FFFFFF"/>
                </a:solidFill>
                <a:latin typeface="Segoe UI"/>
              </a:rPr>
              <a:t>INTERACTIVE
DASHBOARD</a:t>
            </a:r>
          </a:p>
        </p:txBody>
      </p:sp>
      <p:sp>
        <p:nvSpPr>
          <p:cNvPr id="23" name="TextBox 22"/>
          <p:cNvSpPr txBox="1"/>
          <p:nvPr/>
        </p:nvSpPr>
        <p:spPr>
          <a:xfrm>
            <a:off x="2560320" y="4892040"/>
            <a:ext cx="2743200" cy="365760"/>
          </a:xfrm>
          <a:prstGeom prst="rect">
            <a:avLst/>
          </a:prstGeom>
          <a:noFill/>
        </p:spPr>
        <p:txBody>
          <a:bodyPr wrap="square" anchor="ctr">
            <a:spAutoFit/>
          </a:bodyPr>
          <a:lstStyle/>
          <a:p>
            <a:pPr algn="ctr"/>
            <a:r>
              <a:rPr sz="1600" b="1">
                <a:solidFill>
                  <a:srgbClr val="2563EB"/>
                </a:solidFill>
                <a:latin typeface="Segoe UI"/>
              </a:rPr>
              <a:t>Python</a:t>
            </a:r>
          </a:p>
        </p:txBody>
      </p:sp>
      <p:sp>
        <p:nvSpPr>
          <p:cNvPr id="24" name="TextBox 23"/>
          <p:cNvSpPr txBox="1"/>
          <p:nvPr/>
        </p:nvSpPr>
        <p:spPr>
          <a:xfrm>
            <a:off x="2560320" y="5303520"/>
            <a:ext cx="2743200" cy="457200"/>
          </a:xfrm>
          <a:prstGeom prst="rect">
            <a:avLst/>
          </a:prstGeom>
          <a:noFill/>
        </p:spPr>
        <p:txBody>
          <a:bodyPr wrap="square" anchor="ctr">
            <a:spAutoFit/>
          </a:bodyPr>
          <a:lstStyle/>
          <a:p>
            <a:pPr algn="ctr"/>
            <a:r>
              <a:rPr sz="1200" b="0">
                <a:solidFill>
                  <a:srgbClr val="64748B"/>
                </a:solidFill>
                <a:latin typeface="Segoe UI"/>
              </a:rPr>
              <a:t>Pandas • Matplotlib • Seaborn</a:t>
            </a:r>
          </a:p>
        </p:txBody>
      </p:sp>
      <p:sp>
        <p:nvSpPr>
          <p:cNvPr id="25" name="TextBox 24"/>
          <p:cNvSpPr txBox="1"/>
          <p:nvPr/>
        </p:nvSpPr>
        <p:spPr>
          <a:xfrm>
            <a:off x="5669280" y="4892040"/>
            <a:ext cx="2743200" cy="365760"/>
          </a:xfrm>
          <a:prstGeom prst="rect">
            <a:avLst/>
          </a:prstGeom>
          <a:noFill/>
        </p:spPr>
        <p:txBody>
          <a:bodyPr wrap="square" anchor="ctr">
            <a:spAutoFit/>
          </a:bodyPr>
          <a:lstStyle/>
          <a:p>
            <a:pPr algn="ctr"/>
            <a:r>
              <a:rPr sz="1600" b="1">
                <a:solidFill>
                  <a:srgbClr val="2563EB"/>
                </a:solidFill>
                <a:latin typeface="Segoe UI"/>
              </a:rPr>
              <a:t>Power BI</a:t>
            </a:r>
          </a:p>
        </p:txBody>
      </p:sp>
      <p:sp>
        <p:nvSpPr>
          <p:cNvPr id="26" name="TextBox 25"/>
          <p:cNvSpPr txBox="1"/>
          <p:nvPr/>
        </p:nvSpPr>
        <p:spPr>
          <a:xfrm>
            <a:off x="5669280" y="5303520"/>
            <a:ext cx="2743200" cy="457200"/>
          </a:xfrm>
          <a:prstGeom prst="rect">
            <a:avLst/>
          </a:prstGeom>
          <a:noFill/>
        </p:spPr>
        <p:txBody>
          <a:bodyPr wrap="square" anchor="ctr">
            <a:spAutoFit/>
          </a:bodyPr>
          <a:lstStyle/>
          <a:p>
            <a:pPr algn="ctr"/>
            <a:r>
              <a:rPr sz="1200" b="0">
                <a:solidFill>
                  <a:srgbClr val="64748B"/>
                </a:solidFill>
                <a:latin typeface="Segoe UI"/>
              </a:rPr>
              <a:t>Star Schema • DAX • Reporting</a:t>
            </a:r>
          </a:p>
        </p:txBody>
      </p:sp>
      <p:sp>
        <p:nvSpPr>
          <p:cNvPr id="27" name="TextBox 26"/>
          <p:cNvSpPr txBox="1"/>
          <p:nvPr/>
        </p:nvSpPr>
        <p:spPr>
          <a:xfrm>
            <a:off x="8778240" y="4892040"/>
            <a:ext cx="2743200" cy="365760"/>
          </a:xfrm>
          <a:prstGeom prst="rect">
            <a:avLst/>
          </a:prstGeom>
          <a:noFill/>
        </p:spPr>
        <p:txBody>
          <a:bodyPr wrap="square" anchor="ctr">
            <a:spAutoFit/>
          </a:bodyPr>
          <a:lstStyle/>
          <a:p>
            <a:pPr algn="ctr"/>
            <a:r>
              <a:rPr sz="1600" b="1">
                <a:solidFill>
                  <a:srgbClr val="2563EB"/>
                </a:solidFill>
                <a:latin typeface="Segoe UI"/>
              </a:rPr>
              <a:t>Git / GitHub</a:t>
            </a:r>
          </a:p>
        </p:txBody>
      </p:sp>
      <p:sp>
        <p:nvSpPr>
          <p:cNvPr id="28" name="TextBox 27"/>
          <p:cNvSpPr txBox="1"/>
          <p:nvPr/>
        </p:nvSpPr>
        <p:spPr>
          <a:xfrm>
            <a:off x="8778240" y="5303520"/>
            <a:ext cx="2743200" cy="457200"/>
          </a:xfrm>
          <a:prstGeom prst="rect">
            <a:avLst/>
          </a:prstGeom>
          <a:noFill/>
        </p:spPr>
        <p:txBody>
          <a:bodyPr wrap="square" anchor="ctr">
            <a:spAutoFit/>
          </a:bodyPr>
          <a:lstStyle/>
          <a:p>
            <a:pPr algn="ctr"/>
            <a:r>
              <a:rPr sz="1200" b="0">
                <a:solidFill>
                  <a:srgbClr val="64748B"/>
                </a:solidFill>
                <a:latin typeface="Segoe UI"/>
              </a:rPr>
              <a:t>Version Control • Documentation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1155680" cy="502920"/>
          </a:xfrm>
          <a:prstGeom prst="rect">
            <a:avLst/>
          </a:prstGeom>
          <a:noFill/>
        </p:spPr>
        <p:txBody>
          <a:bodyPr wrap="square" anchor="ctr">
            <a:spAutoFit/>
          </a:bodyPr>
          <a:lstStyle/>
          <a:p>
            <a:pPr algn="l"/>
            <a:r>
              <a:rPr sz="3000" b="1">
                <a:solidFill>
                  <a:srgbClr val="172033"/>
                </a:solidFill>
                <a:latin typeface="Segoe UI"/>
              </a:rPr>
              <a:t>Data Cleaning — Turning Raw Data into Reliable Data</a:t>
            </a:r>
          </a:p>
        </p:txBody>
      </p:sp>
      <p:sp>
        <p:nvSpPr>
          <p:cNvPr id="4" name="TextBox 3"/>
          <p:cNvSpPr txBox="1"/>
          <p:nvPr/>
        </p:nvSpPr>
        <p:spPr>
          <a:xfrm>
            <a:off x="530352" y="841248"/>
            <a:ext cx="10972800" cy="365760"/>
          </a:xfrm>
          <a:prstGeom prst="rect">
            <a:avLst/>
          </a:prstGeom>
          <a:noFill/>
        </p:spPr>
        <p:txBody>
          <a:bodyPr wrap="square" anchor="ctr">
            <a:spAutoFit/>
          </a:bodyPr>
          <a:lstStyle/>
          <a:p>
            <a:pPr algn="l"/>
            <a:r>
              <a:rPr sz="1500" b="0">
                <a:solidFill>
                  <a:srgbClr val="64748B"/>
                </a:solidFill>
                <a:latin typeface="Segoe UI"/>
              </a:rPr>
              <a:t>The analysis started with imperfect raw data and ended with a validated dataset.</a:t>
            </a:r>
          </a:p>
        </p:txBody>
      </p:sp>
      <p:sp>
        <p:nvSpPr>
          <p:cNvPr id="5" name="Rounded Rectangle 4"/>
          <p:cNvSpPr/>
          <p:nvPr/>
        </p:nvSpPr>
        <p:spPr>
          <a:xfrm>
            <a:off x="640080" y="1691640"/>
            <a:ext cx="5074920" cy="4160520"/>
          </a:xfrm>
          <a:prstGeom prst="roundRect">
            <a:avLst/>
          </a:prstGeom>
          <a:solidFill>
            <a:srgbClr val="FFFFFF"/>
          </a:solidFill>
          <a:ln>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874519"/>
            <a:ext cx="4572000" cy="411480"/>
          </a:xfrm>
          <a:prstGeom prst="rect">
            <a:avLst/>
          </a:prstGeom>
          <a:noFill/>
        </p:spPr>
        <p:txBody>
          <a:bodyPr wrap="square" anchor="ctr">
            <a:spAutoFit/>
          </a:bodyPr>
          <a:lstStyle/>
          <a:p>
            <a:pPr algn="ctr"/>
            <a:r>
              <a:rPr sz="2000" b="1">
                <a:solidFill>
                  <a:srgbClr val="DC2626"/>
                </a:solidFill>
                <a:latin typeface="Segoe UI"/>
              </a:rPr>
              <a:t>RAW DATA</a:t>
            </a:r>
          </a:p>
        </p:txBody>
      </p:sp>
      <p:sp>
        <p:nvSpPr>
          <p:cNvPr id="7" name="TextBox 6"/>
          <p:cNvSpPr txBox="1"/>
          <p:nvPr/>
        </p:nvSpPr>
        <p:spPr>
          <a:xfrm>
            <a:off x="914400" y="2423160"/>
            <a:ext cx="4572000" cy="685800"/>
          </a:xfrm>
          <a:prstGeom prst="rect">
            <a:avLst/>
          </a:prstGeom>
          <a:noFill/>
        </p:spPr>
        <p:txBody>
          <a:bodyPr wrap="square" anchor="ctr">
            <a:spAutoFit/>
          </a:bodyPr>
          <a:lstStyle/>
          <a:p>
            <a:pPr algn="ctr"/>
            <a:r>
              <a:rPr sz="4600" b="1">
                <a:solidFill>
                  <a:srgbClr val="172033"/>
                </a:solidFill>
                <a:latin typeface="Segoe UI"/>
              </a:rPr>
              <a:t>61</a:t>
            </a:r>
          </a:p>
        </p:txBody>
      </p:sp>
      <p:sp>
        <p:nvSpPr>
          <p:cNvPr id="8" name="TextBox 7"/>
          <p:cNvSpPr txBox="1"/>
          <p:nvPr/>
        </p:nvSpPr>
        <p:spPr>
          <a:xfrm>
            <a:off x="914400" y="2971800"/>
            <a:ext cx="4572000" cy="365760"/>
          </a:xfrm>
          <a:prstGeom prst="rect">
            <a:avLst/>
          </a:prstGeom>
          <a:noFill/>
        </p:spPr>
        <p:txBody>
          <a:bodyPr wrap="square" anchor="ctr">
            <a:spAutoFit/>
          </a:bodyPr>
          <a:lstStyle/>
          <a:p>
            <a:pPr algn="ctr"/>
            <a:r>
              <a:rPr sz="1500" b="0">
                <a:solidFill>
                  <a:srgbClr val="64748B"/>
                </a:solidFill>
                <a:latin typeface="Segoe UI"/>
              </a:rPr>
              <a:t>Raw Transactions</a:t>
            </a:r>
          </a:p>
        </p:txBody>
      </p:sp>
      <p:sp>
        <p:nvSpPr>
          <p:cNvPr id="9" name="TextBox 8"/>
          <p:cNvSpPr txBox="1"/>
          <p:nvPr/>
        </p:nvSpPr>
        <p:spPr>
          <a:xfrm>
            <a:off x="1143000" y="3520440"/>
            <a:ext cx="4206240" cy="1737360"/>
          </a:xfrm>
          <a:prstGeom prst="rect">
            <a:avLst/>
          </a:prstGeom>
          <a:noFill/>
        </p:spPr>
        <p:txBody>
          <a:bodyPr wrap="square" anchor="ctr">
            <a:spAutoFit/>
          </a:bodyPr>
          <a:lstStyle/>
          <a:p>
            <a:pPr algn="l"/>
            <a:r>
              <a:rPr sz="1400" b="0">
                <a:solidFill>
                  <a:srgbClr val="172033"/>
                </a:solidFill>
                <a:latin typeface="Segoe UI"/>
              </a:rPr>
              <a:t>• Missing quantities
• Missing unit prices
• 1 duplicate transaction
• Inconsistent region text
• 1 negative-quantity error</a:t>
            </a:r>
          </a:p>
        </p:txBody>
      </p:sp>
      <p:sp>
        <p:nvSpPr>
          <p:cNvPr id="10" name="Right Arrow 9"/>
          <p:cNvSpPr/>
          <p:nvPr/>
        </p:nvSpPr>
        <p:spPr>
          <a:xfrm>
            <a:off x="5806440" y="3337560"/>
            <a:ext cx="548640" cy="457200"/>
          </a:xfrm>
          <a:prstGeom prst="righ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446520" y="1691640"/>
            <a:ext cx="5074920" cy="4160520"/>
          </a:xfrm>
          <a:prstGeom prst="roundRect">
            <a:avLst/>
          </a:prstGeom>
          <a:solidFill>
            <a:srgbClr val="FFFFFF"/>
          </a:solidFill>
          <a:ln>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720840" y="1874519"/>
            <a:ext cx="4572000" cy="411480"/>
          </a:xfrm>
          <a:prstGeom prst="rect">
            <a:avLst/>
          </a:prstGeom>
          <a:noFill/>
        </p:spPr>
        <p:txBody>
          <a:bodyPr wrap="square" anchor="ctr">
            <a:spAutoFit/>
          </a:bodyPr>
          <a:lstStyle/>
          <a:p>
            <a:pPr algn="ctr"/>
            <a:r>
              <a:rPr sz="2000" b="1">
                <a:solidFill>
                  <a:srgbClr val="16A34A"/>
                </a:solidFill>
                <a:latin typeface="Segoe UI"/>
              </a:rPr>
              <a:t>CLEAN DATA</a:t>
            </a:r>
          </a:p>
        </p:txBody>
      </p:sp>
      <p:sp>
        <p:nvSpPr>
          <p:cNvPr id="13" name="TextBox 12"/>
          <p:cNvSpPr txBox="1"/>
          <p:nvPr/>
        </p:nvSpPr>
        <p:spPr>
          <a:xfrm>
            <a:off x="6720840" y="2423160"/>
            <a:ext cx="4572000" cy="685800"/>
          </a:xfrm>
          <a:prstGeom prst="rect">
            <a:avLst/>
          </a:prstGeom>
          <a:noFill/>
        </p:spPr>
        <p:txBody>
          <a:bodyPr wrap="square" anchor="ctr">
            <a:spAutoFit/>
          </a:bodyPr>
          <a:lstStyle/>
          <a:p>
            <a:pPr algn="ctr"/>
            <a:r>
              <a:rPr sz="4600" b="1">
                <a:solidFill>
                  <a:srgbClr val="172033"/>
                </a:solidFill>
                <a:latin typeface="Segoe UI"/>
              </a:rPr>
              <a:t>60</a:t>
            </a:r>
          </a:p>
        </p:txBody>
      </p:sp>
      <p:sp>
        <p:nvSpPr>
          <p:cNvPr id="14" name="TextBox 13"/>
          <p:cNvSpPr txBox="1"/>
          <p:nvPr/>
        </p:nvSpPr>
        <p:spPr>
          <a:xfrm>
            <a:off x="6720840" y="2971800"/>
            <a:ext cx="4572000" cy="365760"/>
          </a:xfrm>
          <a:prstGeom prst="rect">
            <a:avLst/>
          </a:prstGeom>
          <a:noFill/>
        </p:spPr>
        <p:txBody>
          <a:bodyPr wrap="square" anchor="ctr">
            <a:spAutoFit/>
          </a:bodyPr>
          <a:lstStyle/>
          <a:p>
            <a:pPr algn="ctr"/>
            <a:r>
              <a:rPr sz="1500" b="0">
                <a:solidFill>
                  <a:srgbClr val="64748B"/>
                </a:solidFill>
                <a:latin typeface="Segoe UI"/>
              </a:rPr>
              <a:t>Clean Analysis-Ready Records</a:t>
            </a:r>
          </a:p>
        </p:txBody>
      </p:sp>
      <p:sp>
        <p:nvSpPr>
          <p:cNvPr id="15" name="TextBox 14"/>
          <p:cNvSpPr txBox="1"/>
          <p:nvPr/>
        </p:nvSpPr>
        <p:spPr>
          <a:xfrm>
            <a:off x="6995160" y="3520440"/>
            <a:ext cx="4206240" cy="1554480"/>
          </a:xfrm>
          <a:prstGeom prst="rect">
            <a:avLst/>
          </a:prstGeom>
          <a:noFill/>
        </p:spPr>
        <p:txBody>
          <a:bodyPr wrap="square" anchor="ctr">
            <a:spAutoFit/>
          </a:bodyPr>
          <a:lstStyle/>
          <a:p>
            <a:pPr algn="l"/>
            <a:r>
              <a:rPr sz="1400" b="0">
                <a:solidFill>
                  <a:srgbClr val="172033"/>
                </a:solidFill>
                <a:latin typeface="Segoe UI"/>
              </a:rPr>
              <a:t>• 0 Missing Values
• 0 Duplicates
• Consistent Formatting
• Fully Validated Dataset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1155680" cy="502920"/>
          </a:xfrm>
          <a:prstGeom prst="rect">
            <a:avLst/>
          </a:prstGeom>
          <a:noFill/>
        </p:spPr>
        <p:txBody>
          <a:bodyPr wrap="square" anchor="ctr">
            <a:spAutoFit/>
          </a:bodyPr>
          <a:lstStyle/>
          <a:p>
            <a:pPr algn="l"/>
            <a:r>
              <a:rPr sz="3000" b="1">
                <a:solidFill>
                  <a:srgbClr val="172033"/>
                </a:solidFill>
                <a:latin typeface="Segoe UI"/>
              </a:rPr>
              <a:t>Headline KPIs</a:t>
            </a:r>
          </a:p>
        </p:txBody>
      </p:sp>
      <p:sp>
        <p:nvSpPr>
          <p:cNvPr id="4" name="TextBox 3"/>
          <p:cNvSpPr txBox="1"/>
          <p:nvPr/>
        </p:nvSpPr>
        <p:spPr>
          <a:xfrm>
            <a:off x="530352" y="841248"/>
            <a:ext cx="10972800" cy="365760"/>
          </a:xfrm>
          <a:prstGeom prst="rect">
            <a:avLst/>
          </a:prstGeom>
          <a:noFill/>
        </p:spPr>
        <p:txBody>
          <a:bodyPr wrap="square" anchor="ctr">
            <a:spAutoFit/>
          </a:bodyPr>
          <a:lstStyle/>
          <a:p>
            <a:pPr algn="l"/>
            <a:r>
              <a:rPr sz="1500" b="0">
                <a:solidFill>
                  <a:srgbClr val="64748B"/>
                </a:solidFill>
                <a:latin typeface="Segoe UI"/>
              </a:rPr>
              <a:t>Four months of performance at a glance</a:t>
            </a:r>
          </a:p>
        </p:txBody>
      </p:sp>
      <p:sp>
        <p:nvSpPr>
          <p:cNvPr id="5" name="Rounded Rectangle 4"/>
          <p:cNvSpPr/>
          <p:nvPr/>
        </p:nvSpPr>
        <p:spPr>
          <a:xfrm>
            <a:off x="594360" y="2057400"/>
            <a:ext cx="2514600" cy="1965960"/>
          </a:xfrm>
          <a:prstGeom prst="roundRect">
            <a:avLst/>
          </a:prstGeom>
          <a:solidFill>
            <a:srgbClr val="FFFFFF"/>
          </a:solidFill>
          <a:ln>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2423160"/>
            <a:ext cx="2331720" cy="822960"/>
          </a:xfrm>
          <a:prstGeom prst="rect">
            <a:avLst/>
          </a:prstGeom>
          <a:noFill/>
        </p:spPr>
        <p:txBody>
          <a:bodyPr wrap="square" anchor="ctr">
            <a:spAutoFit/>
          </a:bodyPr>
          <a:lstStyle/>
          <a:p>
            <a:pPr algn="ctr"/>
            <a:r>
              <a:rPr sz="3400" b="1">
                <a:solidFill>
                  <a:srgbClr val="2563EB"/>
                </a:solidFill>
                <a:latin typeface="Segoe UI"/>
              </a:rPr>
              <a:t>₹1.50M</a:t>
            </a:r>
          </a:p>
        </p:txBody>
      </p:sp>
      <p:sp>
        <p:nvSpPr>
          <p:cNvPr id="7" name="TextBox 6"/>
          <p:cNvSpPr txBox="1"/>
          <p:nvPr/>
        </p:nvSpPr>
        <p:spPr>
          <a:xfrm>
            <a:off x="685800" y="3246120"/>
            <a:ext cx="2331720" cy="457200"/>
          </a:xfrm>
          <a:prstGeom prst="rect">
            <a:avLst/>
          </a:prstGeom>
          <a:noFill/>
        </p:spPr>
        <p:txBody>
          <a:bodyPr wrap="square" anchor="ctr">
            <a:spAutoFit/>
          </a:bodyPr>
          <a:lstStyle/>
          <a:p>
            <a:pPr algn="ctr"/>
            <a:r>
              <a:rPr sz="1600" b="1">
                <a:solidFill>
                  <a:srgbClr val="172033"/>
                </a:solidFill>
                <a:latin typeface="Segoe UI"/>
              </a:rPr>
              <a:t>Total Sales</a:t>
            </a:r>
          </a:p>
        </p:txBody>
      </p:sp>
      <p:sp>
        <p:nvSpPr>
          <p:cNvPr id="8" name="Rounded Rectangle 7"/>
          <p:cNvSpPr/>
          <p:nvPr/>
        </p:nvSpPr>
        <p:spPr>
          <a:xfrm>
            <a:off x="3429000" y="2057400"/>
            <a:ext cx="2514600" cy="1965960"/>
          </a:xfrm>
          <a:prstGeom prst="roundRect">
            <a:avLst/>
          </a:prstGeom>
          <a:solidFill>
            <a:srgbClr val="FFFFFF"/>
          </a:solidFill>
          <a:ln>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520440" y="2423160"/>
            <a:ext cx="2331720" cy="822960"/>
          </a:xfrm>
          <a:prstGeom prst="rect">
            <a:avLst/>
          </a:prstGeom>
          <a:noFill/>
        </p:spPr>
        <p:txBody>
          <a:bodyPr wrap="square" anchor="ctr">
            <a:spAutoFit/>
          </a:bodyPr>
          <a:lstStyle/>
          <a:p>
            <a:pPr algn="ctr"/>
            <a:r>
              <a:rPr sz="3400" b="1">
                <a:solidFill>
                  <a:srgbClr val="16A34A"/>
                </a:solidFill>
                <a:latin typeface="Segoe UI"/>
              </a:rPr>
              <a:t>₹606.18K</a:t>
            </a:r>
          </a:p>
        </p:txBody>
      </p:sp>
      <p:sp>
        <p:nvSpPr>
          <p:cNvPr id="10" name="TextBox 9"/>
          <p:cNvSpPr txBox="1"/>
          <p:nvPr/>
        </p:nvSpPr>
        <p:spPr>
          <a:xfrm>
            <a:off x="3520440" y="3246120"/>
            <a:ext cx="2331720" cy="457200"/>
          </a:xfrm>
          <a:prstGeom prst="rect">
            <a:avLst/>
          </a:prstGeom>
          <a:noFill/>
        </p:spPr>
        <p:txBody>
          <a:bodyPr wrap="square" anchor="ctr">
            <a:spAutoFit/>
          </a:bodyPr>
          <a:lstStyle/>
          <a:p>
            <a:pPr algn="ctr"/>
            <a:r>
              <a:rPr sz="1600" b="1">
                <a:solidFill>
                  <a:srgbClr val="172033"/>
                </a:solidFill>
                <a:latin typeface="Segoe UI"/>
              </a:rPr>
              <a:t>Total Profit</a:t>
            </a:r>
          </a:p>
        </p:txBody>
      </p:sp>
      <p:sp>
        <p:nvSpPr>
          <p:cNvPr id="11" name="Rounded Rectangle 10"/>
          <p:cNvSpPr/>
          <p:nvPr/>
        </p:nvSpPr>
        <p:spPr>
          <a:xfrm>
            <a:off x="6263640" y="2057400"/>
            <a:ext cx="2514600" cy="1965960"/>
          </a:xfrm>
          <a:prstGeom prst="roundRect">
            <a:avLst/>
          </a:prstGeom>
          <a:solidFill>
            <a:srgbClr val="FFFFFF"/>
          </a:solidFill>
          <a:ln>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55080" y="2423160"/>
            <a:ext cx="2331720" cy="822960"/>
          </a:xfrm>
          <a:prstGeom prst="rect">
            <a:avLst/>
          </a:prstGeom>
          <a:noFill/>
        </p:spPr>
        <p:txBody>
          <a:bodyPr wrap="square" anchor="ctr">
            <a:spAutoFit/>
          </a:bodyPr>
          <a:lstStyle/>
          <a:p>
            <a:pPr algn="ctr"/>
            <a:r>
              <a:rPr sz="3400" b="1">
                <a:solidFill>
                  <a:srgbClr val="2563EB"/>
                </a:solidFill>
                <a:latin typeface="Segoe UI"/>
              </a:rPr>
              <a:t>60</a:t>
            </a:r>
          </a:p>
        </p:txBody>
      </p:sp>
      <p:sp>
        <p:nvSpPr>
          <p:cNvPr id="13" name="TextBox 12"/>
          <p:cNvSpPr txBox="1"/>
          <p:nvPr/>
        </p:nvSpPr>
        <p:spPr>
          <a:xfrm>
            <a:off x="6355080" y="3246120"/>
            <a:ext cx="2331720" cy="457200"/>
          </a:xfrm>
          <a:prstGeom prst="rect">
            <a:avLst/>
          </a:prstGeom>
          <a:noFill/>
        </p:spPr>
        <p:txBody>
          <a:bodyPr wrap="square" anchor="ctr">
            <a:spAutoFit/>
          </a:bodyPr>
          <a:lstStyle/>
          <a:p>
            <a:pPr algn="ctr"/>
            <a:r>
              <a:rPr sz="1600" b="1">
                <a:solidFill>
                  <a:srgbClr val="172033"/>
                </a:solidFill>
                <a:latin typeface="Segoe UI"/>
              </a:rPr>
              <a:t>Total Transactions</a:t>
            </a:r>
          </a:p>
        </p:txBody>
      </p:sp>
      <p:sp>
        <p:nvSpPr>
          <p:cNvPr id="14" name="Rounded Rectangle 13"/>
          <p:cNvSpPr/>
          <p:nvPr/>
        </p:nvSpPr>
        <p:spPr>
          <a:xfrm>
            <a:off x="9098280" y="2057400"/>
            <a:ext cx="2514600" cy="1965960"/>
          </a:xfrm>
          <a:prstGeom prst="roundRect">
            <a:avLst/>
          </a:prstGeom>
          <a:solidFill>
            <a:srgbClr val="FFFFFF"/>
          </a:solidFill>
          <a:ln>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89720" y="2423160"/>
            <a:ext cx="2331720" cy="822960"/>
          </a:xfrm>
          <a:prstGeom prst="rect">
            <a:avLst/>
          </a:prstGeom>
          <a:noFill/>
        </p:spPr>
        <p:txBody>
          <a:bodyPr wrap="square" anchor="ctr">
            <a:spAutoFit/>
          </a:bodyPr>
          <a:lstStyle/>
          <a:p>
            <a:pPr algn="ctr"/>
            <a:r>
              <a:rPr sz="3400" b="1">
                <a:solidFill>
                  <a:srgbClr val="16A34A"/>
                </a:solidFill>
                <a:latin typeface="Segoe UI"/>
              </a:rPr>
              <a:t>40.36%</a:t>
            </a:r>
          </a:p>
        </p:txBody>
      </p:sp>
      <p:sp>
        <p:nvSpPr>
          <p:cNvPr id="16" name="TextBox 15"/>
          <p:cNvSpPr txBox="1"/>
          <p:nvPr/>
        </p:nvSpPr>
        <p:spPr>
          <a:xfrm>
            <a:off x="9189720" y="3246120"/>
            <a:ext cx="2331720" cy="457200"/>
          </a:xfrm>
          <a:prstGeom prst="rect">
            <a:avLst/>
          </a:prstGeom>
          <a:noFill/>
        </p:spPr>
        <p:txBody>
          <a:bodyPr wrap="square" anchor="ctr">
            <a:spAutoFit/>
          </a:bodyPr>
          <a:lstStyle/>
          <a:p>
            <a:pPr algn="ctr"/>
            <a:r>
              <a:rPr sz="1600" b="1">
                <a:solidFill>
                  <a:srgbClr val="172033"/>
                </a:solidFill>
                <a:latin typeface="Segoe UI"/>
              </a:rPr>
              <a:t>Profit Margin</a:t>
            </a:r>
          </a:p>
        </p:txBody>
      </p:sp>
      <p:sp>
        <p:nvSpPr>
          <p:cNvPr id="17" name="Rounded Rectangle 16"/>
          <p:cNvSpPr/>
          <p:nvPr/>
        </p:nvSpPr>
        <p:spPr>
          <a:xfrm>
            <a:off x="731520" y="4800600"/>
            <a:ext cx="10698480" cy="86868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4400" y="5010912"/>
            <a:ext cx="10332720" cy="411480"/>
          </a:xfrm>
          <a:prstGeom prst="rect">
            <a:avLst/>
          </a:prstGeom>
          <a:noFill/>
        </p:spPr>
        <p:txBody>
          <a:bodyPr wrap="square" anchor="ctr">
            <a:spAutoFit/>
          </a:bodyPr>
          <a:lstStyle/>
          <a:p>
            <a:pPr algn="ctr"/>
            <a:r>
              <a:rPr sz="1700" b="1">
                <a:solidFill>
                  <a:srgbClr val="0B1F3A"/>
                </a:solidFill>
                <a:latin typeface="Segoe UI"/>
              </a:rPr>
              <a:t>Healthy unit economics — the key issue is demand, not profitability.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1155680" cy="502920"/>
          </a:xfrm>
          <a:prstGeom prst="rect">
            <a:avLst/>
          </a:prstGeom>
          <a:noFill/>
        </p:spPr>
        <p:txBody>
          <a:bodyPr wrap="square" anchor="ctr">
            <a:spAutoFit/>
          </a:bodyPr>
          <a:lstStyle/>
          <a:p>
            <a:pPr algn="l"/>
            <a:r>
              <a:rPr sz="3000" b="1">
                <a:solidFill>
                  <a:srgbClr val="172033"/>
                </a:solidFill>
                <a:latin typeface="Segoe UI"/>
              </a:rPr>
              <a:t>The Core Problem — Revenue Is Declining Fast</a:t>
            </a:r>
          </a:p>
        </p:txBody>
      </p:sp>
      <p:sp>
        <p:nvSpPr>
          <p:cNvPr id="4" name="TextBox 3"/>
          <p:cNvSpPr txBox="1"/>
          <p:nvPr/>
        </p:nvSpPr>
        <p:spPr>
          <a:xfrm>
            <a:off x="530352" y="841248"/>
            <a:ext cx="10972800" cy="365760"/>
          </a:xfrm>
          <a:prstGeom prst="rect">
            <a:avLst/>
          </a:prstGeom>
          <a:noFill/>
        </p:spPr>
        <p:txBody>
          <a:bodyPr wrap="square" anchor="ctr">
            <a:spAutoFit/>
          </a:bodyPr>
          <a:lstStyle/>
          <a:p>
            <a:pPr algn="l"/>
            <a:r>
              <a:rPr sz="1500" b="0">
                <a:solidFill>
                  <a:srgbClr val="64748B"/>
                </a:solidFill>
                <a:latin typeface="Segoe UI"/>
              </a:rPr>
              <a:t>Revenue declined every month from June through September.</a:t>
            </a:r>
          </a:p>
        </p:txBody>
      </p:sp>
      <p:graphicFrame>
        <p:nvGraphicFramePr>
          <p:cNvPr id="5" name="Chart 4"/>
          <p:cNvGraphicFramePr>
            <a:graphicFrameLocks noGrp="1"/>
          </p:cNvGraphicFramePr>
          <p:nvPr/>
        </p:nvGraphicFramePr>
        <p:xfrm>
          <a:off x="685800" y="1691640"/>
          <a:ext cx="8686800" cy="4343400"/>
        </p:xfrm>
        <a:graphic>
          <a:graphicData uri="http://schemas.openxmlformats.org/drawingml/2006/chart">
            <c:chart xmlns:c="http://schemas.openxmlformats.org/drawingml/2006/chart" xmlns:r="http://schemas.openxmlformats.org/officeDocument/2006/relationships" r:id="rId3"/>
          </a:graphicData>
        </a:graphic>
      </p:graphicFrame>
      <p:sp>
        <p:nvSpPr>
          <p:cNvPr id="6" name="Rounded Rectangle 5"/>
          <p:cNvSpPr/>
          <p:nvPr/>
        </p:nvSpPr>
        <p:spPr>
          <a:xfrm>
            <a:off x="9646920" y="2971800"/>
            <a:ext cx="1828800" cy="1600200"/>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738360" y="3246120"/>
            <a:ext cx="1645920" cy="1005840"/>
          </a:xfrm>
          <a:prstGeom prst="rect">
            <a:avLst/>
          </a:prstGeom>
          <a:noFill/>
        </p:spPr>
        <p:txBody>
          <a:bodyPr wrap="square" anchor="ctr">
            <a:spAutoFit/>
          </a:bodyPr>
          <a:lstStyle/>
          <a:p>
            <a:pPr algn="ctr"/>
            <a:r>
              <a:rPr sz="2000" b="1">
                <a:solidFill>
                  <a:srgbClr val="FFFFFF"/>
                </a:solidFill>
                <a:latin typeface="Segoe UI"/>
              </a:rPr>
              <a:t>−71%
Peak → Trough</a:t>
            </a:r>
          </a:p>
        </p:txBody>
      </p:sp>
      <p:sp>
        <p:nvSpPr>
          <p:cNvPr id="8" name="TextBox 7"/>
          <p:cNvSpPr txBox="1"/>
          <p:nvPr/>
        </p:nvSpPr>
        <p:spPr>
          <a:xfrm>
            <a:off x="9864022" y="4888021"/>
            <a:ext cx="1639130" cy="830997"/>
          </a:xfrm>
          <a:prstGeom prst="rect">
            <a:avLst/>
          </a:prstGeom>
          <a:noFill/>
        </p:spPr>
        <p:txBody>
          <a:bodyPr wrap="square" anchor="ctr">
            <a:spAutoFit/>
          </a:bodyPr>
          <a:lstStyle/>
          <a:p>
            <a:pPr algn="l"/>
            <a:r>
              <a:rPr sz="1200" b="0" dirty="0">
                <a:solidFill>
                  <a:srgbClr val="172033"/>
                </a:solidFill>
                <a:latin typeface="Segoe UI"/>
              </a:rPr>
              <a:t>June  ₹643K
July   ₹377K
August ₹298K
September ₹185K</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1155680" cy="502920"/>
          </a:xfrm>
          <a:prstGeom prst="rect">
            <a:avLst/>
          </a:prstGeom>
          <a:noFill/>
        </p:spPr>
        <p:txBody>
          <a:bodyPr wrap="square" anchor="ctr">
            <a:spAutoFit/>
          </a:bodyPr>
          <a:lstStyle/>
          <a:p>
            <a:pPr algn="l"/>
            <a:r>
              <a:rPr sz="3000" b="1">
                <a:solidFill>
                  <a:srgbClr val="172033"/>
                </a:solidFill>
                <a:latin typeface="Segoe UI"/>
              </a:rPr>
              <a:t>Where the Revenue Is Coming From</a:t>
            </a:r>
          </a:p>
        </p:txBody>
      </p:sp>
      <p:sp>
        <p:nvSpPr>
          <p:cNvPr id="4" name="TextBox 3"/>
          <p:cNvSpPr txBox="1"/>
          <p:nvPr/>
        </p:nvSpPr>
        <p:spPr>
          <a:xfrm>
            <a:off x="530352" y="841248"/>
            <a:ext cx="10972800" cy="365760"/>
          </a:xfrm>
          <a:prstGeom prst="rect">
            <a:avLst/>
          </a:prstGeom>
          <a:noFill/>
        </p:spPr>
        <p:txBody>
          <a:bodyPr wrap="square" anchor="ctr">
            <a:spAutoFit/>
          </a:bodyPr>
          <a:lstStyle/>
          <a:p>
            <a:pPr algn="l"/>
            <a:r>
              <a:rPr sz="1500" b="0">
                <a:solidFill>
                  <a:srgbClr val="64748B"/>
                </a:solidFill>
                <a:latin typeface="Segoe UI"/>
              </a:rPr>
              <a:t>Strength is concentrated in specific markets and products.</a:t>
            </a:r>
          </a:p>
        </p:txBody>
      </p:sp>
      <p:graphicFrame>
        <p:nvGraphicFramePr>
          <p:cNvPr id="5" name="Chart 4"/>
          <p:cNvGraphicFramePr>
            <a:graphicFrameLocks noGrp="1"/>
          </p:cNvGraphicFramePr>
          <p:nvPr/>
        </p:nvGraphicFramePr>
        <p:xfrm>
          <a:off x="502920" y="1691640"/>
          <a:ext cx="548640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6" name="Rounded Rectangle 5"/>
          <p:cNvSpPr/>
          <p:nvPr/>
        </p:nvSpPr>
        <p:spPr>
          <a:xfrm>
            <a:off x="731520" y="5394960"/>
            <a:ext cx="5029200" cy="68580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5532120"/>
            <a:ext cx="4754880" cy="365760"/>
          </a:xfrm>
          <a:prstGeom prst="rect">
            <a:avLst/>
          </a:prstGeom>
          <a:noFill/>
        </p:spPr>
        <p:txBody>
          <a:bodyPr wrap="square" anchor="ctr">
            <a:spAutoFit/>
          </a:bodyPr>
          <a:lstStyle/>
          <a:p>
            <a:pPr algn="ctr"/>
            <a:r>
              <a:rPr sz="1400" b="1">
                <a:solidFill>
                  <a:srgbClr val="0B1F3A"/>
                </a:solidFill>
                <a:latin typeface="Segoe UI"/>
              </a:rPr>
              <a:t>South + East = ₹825K → 55% of total sales</a:t>
            </a:r>
          </a:p>
        </p:txBody>
      </p:sp>
      <p:graphicFrame>
        <p:nvGraphicFramePr>
          <p:cNvPr id="8" name="Chart 7"/>
          <p:cNvGraphicFramePr>
            <a:graphicFrameLocks noGrp="1"/>
          </p:cNvGraphicFramePr>
          <p:nvPr/>
        </p:nvGraphicFramePr>
        <p:xfrm>
          <a:off x="6309360" y="1600200"/>
          <a:ext cx="5029200" cy="3794760"/>
        </p:xfrm>
        <a:graphic>
          <a:graphicData uri="http://schemas.openxmlformats.org/drawingml/2006/chart">
            <c:chart xmlns:c="http://schemas.openxmlformats.org/drawingml/2006/chart" xmlns:r="http://schemas.openxmlformats.org/officeDocument/2006/relationships" r:id="rId4"/>
          </a:graphicData>
        </a:graphic>
      </p:graphicFrame>
      <p:sp>
        <p:nvSpPr>
          <p:cNvPr id="9" name="Rounded Rectangle 8"/>
          <p:cNvSpPr/>
          <p:nvPr/>
        </p:nvSpPr>
        <p:spPr>
          <a:xfrm>
            <a:off x="6629400" y="5394960"/>
            <a:ext cx="4389120" cy="68580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766560" y="5532120"/>
            <a:ext cx="4114800" cy="365760"/>
          </a:xfrm>
          <a:prstGeom prst="rect">
            <a:avLst/>
          </a:prstGeom>
          <a:noFill/>
        </p:spPr>
        <p:txBody>
          <a:bodyPr wrap="square" anchor="ctr">
            <a:spAutoFit/>
          </a:bodyPr>
          <a:lstStyle/>
          <a:p>
            <a:pPr algn="ctr"/>
            <a:r>
              <a:rPr sz="1400" b="1">
                <a:solidFill>
                  <a:srgbClr val="0B1F3A"/>
                </a:solidFill>
                <a:latin typeface="Segoe UI"/>
              </a:rPr>
              <a:t>Storage = 34% of total sales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1155680" cy="502920"/>
          </a:xfrm>
          <a:prstGeom prst="rect">
            <a:avLst/>
          </a:prstGeom>
          <a:noFill/>
        </p:spPr>
        <p:txBody>
          <a:bodyPr wrap="square" anchor="ctr">
            <a:spAutoFit/>
          </a:bodyPr>
          <a:lstStyle/>
          <a:p>
            <a:pPr algn="l"/>
            <a:r>
              <a:rPr sz="3000" b="1">
                <a:solidFill>
                  <a:srgbClr val="172033"/>
                </a:solidFill>
                <a:latin typeface="Segoe UI"/>
              </a:rPr>
              <a:t>A Hidden Payment Method Gap</a:t>
            </a:r>
          </a:p>
        </p:txBody>
      </p:sp>
      <p:sp>
        <p:nvSpPr>
          <p:cNvPr id="4" name="TextBox 3"/>
          <p:cNvSpPr txBox="1"/>
          <p:nvPr/>
        </p:nvSpPr>
        <p:spPr>
          <a:xfrm>
            <a:off x="530352" y="841248"/>
            <a:ext cx="10972800" cy="365760"/>
          </a:xfrm>
          <a:prstGeom prst="rect">
            <a:avLst/>
          </a:prstGeom>
          <a:noFill/>
        </p:spPr>
        <p:txBody>
          <a:bodyPr wrap="square" anchor="ctr">
            <a:spAutoFit/>
          </a:bodyPr>
          <a:lstStyle/>
          <a:p>
            <a:pPr algn="l"/>
            <a:r>
              <a:rPr sz="1500" b="0">
                <a:solidFill>
                  <a:srgbClr val="64748B"/>
                </a:solidFill>
                <a:latin typeface="Segoe UI"/>
              </a:rPr>
              <a:t>Credit Card performance trails the other major payment methods.</a:t>
            </a:r>
          </a:p>
        </p:txBody>
      </p:sp>
      <p:sp>
        <p:nvSpPr>
          <p:cNvPr id="5" name="Rounded Rectangle 4"/>
          <p:cNvSpPr/>
          <p:nvPr/>
        </p:nvSpPr>
        <p:spPr>
          <a:xfrm>
            <a:off x="777240" y="1828800"/>
            <a:ext cx="3749039" cy="3474720"/>
          </a:xfrm>
          <a:prstGeom prst="roundRect">
            <a:avLst/>
          </a:prstGeom>
          <a:solidFill>
            <a:srgbClr val="FFFFFF"/>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2148840"/>
            <a:ext cx="3291840" cy="457200"/>
          </a:xfrm>
          <a:prstGeom prst="rect">
            <a:avLst/>
          </a:prstGeom>
          <a:noFill/>
        </p:spPr>
        <p:txBody>
          <a:bodyPr wrap="square" anchor="ctr">
            <a:spAutoFit/>
          </a:bodyPr>
          <a:lstStyle/>
          <a:p>
            <a:pPr algn="ctr"/>
            <a:r>
              <a:rPr sz="1800" b="1">
                <a:solidFill>
                  <a:srgbClr val="F59E0B"/>
                </a:solidFill>
                <a:latin typeface="Segoe UI"/>
              </a:rPr>
              <a:t>CREDIT CARD</a:t>
            </a:r>
          </a:p>
        </p:txBody>
      </p:sp>
      <p:sp>
        <p:nvSpPr>
          <p:cNvPr id="7" name="TextBox 6"/>
          <p:cNvSpPr txBox="1"/>
          <p:nvPr/>
        </p:nvSpPr>
        <p:spPr>
          <a:xfrm>
            <a:off x="1005840" y="2743200"/>
            <a:ext cx="3291840" cy="822960"/>
          </a:xfrm>
          <a:prstGeom prst="rect">
            <a:avLst/>
          </a:prstGeom>
          <a:noFill/>
        </p:spPr>
        <p:txBody>
          <a:bodyPr wrap="square" anchor="ctr">
            <a:spAutoFit/>
          </a:bodyPr>
          <a:lstStyle/>
          <a:p>
            <a:pPr algn="ctr"/>
            <a:r>
              <a:rPr sz="4000" b="1">
                <a:solidFill>
                  <a:srgbClr val="172033"/>
                </a:solidFill>
                <a:latin typeface="Segoe UI"/>
              </a:rPr>
              <a:t>₹295K</a:t>
            </a:r>
          </a:p>
        </p:txBody>
      </p:sp>
      <p:sp>
        <p:nvSpPr>
          <p:cNvPr id="8" name="TextBox 7"/>
          <p:cNvSpPr txBox="1"/>
          <p:nvPr/>
        </p:nvSpPr>
        <p:spPr>
          <a:xfrm>
            <a:off x="1005840" y="3657600"/>
            <a:ext cx="3291840" cy="548640"/>
          </a:xfrm>
          <a:prstGeom prst="rect">
            <a:avLst/>
          </a:prstGeom>
          <a:noFill/>
        </p:spPr>
        <p:txBody>
          <a:bodyPr wrap="square" anchor="ctr">
            <a:spAutoFit/>
          </a:bodyPr>
          <a:lstStyle/>
          <a:p>
            <a:pPr algn="ctr"/>
            <a:r>
              <a:rPr sz="2200" b="1">
                <a:solidFill>
                  <a:srgbClr val="DC2626"/>
                </a:solidFill>
                <a:latin typeface="Segoe UI"/>
              </a:rPr>
              <a:t>~27% gap</a:t>
            </a:r>
          </a:p>
        </p:txBody>
      </p:sp>
      <p:sp>
        <p:nvSpPr>
          <p:cNvPr id="9" name="TextBox 8"/>
          <p:cNvSpPr txBox="1"/>
          <p:nvPr/>
        </p:nvSpPr>
        <p:spPr>
          <a:xfrm>
            <a:off x="1051560" y="4343400"/>
            <a:ext cx="3200400" cy="640080"/>
          </a:xfrm>
          <a:prstGeom prst="rect">
            <a:avLst/>
          </a:prstGeom>
          <a:noFill/>
        </p:spPr>
        <p:txBody>
          <a:bodyPr wrap="square" anchor="ctr">
            <a:spAutoFit/>
          </a:bodyPr>
          <a:lstStyle/>
          <a:p>
            <a:pPr algn="ctr"/>
            <a:r>
              <a:rPr sz="1400" b="0">
                <a:solidFill>
                  <a:srgbClr val="64748B"/>
                </a:solidFill>
                <a:latin typeface="Segoe UI"/>
              </a:rPr>
              <a:t>Structural issue
worth investigating</a:t>
            </a:r>
          </a:p>
        </p:txBody>
      </p:sp>
      <p:sp>
        <p:nvSpPr>
          <p:cNvPr id="10" name="Rounded Rectangle 9"/>
          <p:cNvSpPr/>
          <p:nvPr/>
        </p:nvSpPr>
        <p:spPr>
          <a:xfrm>
            <a:off x="4892040" y="1828800"/>
            <a:ext cx="6400800" cy="3474720"/>
          </a:xfrm>
          <a:prstGeom prst="roundRect">
            <a:avLst/>
          </a:prstGeom>
          <a:solidFill>
            <a:srgbClr val="FFFFFF"/>
          </a:solidFill>
          <a:ln>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212080" y="2148840"/>
            <a:ext cx="5760720" cy="457200"/>
          </a:xfrm>
          <a:prstGeom prst="rect">
            <a:avLst/>
          </a:prstGeom>
          <a:noFill/>
        </p:spPr>
        <p:txBody>
          <a:bodyPr wrap="square" anchor="ctr">
            <a:spAutoFit/>
          </a:bodyPr>
          <a:lstStyle/>
          <a:p>
            <a:pPr algn="ctr"/>
            <a:r>
              <a:rPr sz="1800" b="1">
                <a:solidFill>
                  <a:srgbClr val="2563EB"/>
                </a:solidFill>
                <a:latin typeface="Segoe UI"/>
              </a:rPr>
              <a:t>Other Payment Methods</a:t>
            </a:r>
          </a:p>
        </p:txBody>
      </p:sp>
      <p:sp>
        <p:nvSpPr>
          <p:cNvPr id="12" name="TextBox 11"/>
          <p:cNvSpPr txBox="1"/>
          <p:nvPr/>
        </p:nvSpPr>
        <p:spPr>
          <a:xfrm>
            <a:off x="5394960" y="2788920"/>
            <a:ext cx="2011680" cy="411480"/>
          </a:xfrm>
          <a:prstGeom prst="rect">
            <a:avLst/>
          </a:prstGeom>
          <a:noFill/>
        </p:spPr>
        <p:txBody>
          <a:bodyPr wrap="square" anchor="ctr">
            <a:spAutoFit/>
          </a:bodyPr>
          <a:lstStyle/>
          <a:p>
            <a:pPr algn="l"/>
            <a:r>
              <a:rPr sz="1500" b="1">
                <a:solidFill>
                  <a:srgbClr val="172033"/>
                </a:solidFill>
                <a:latin typeface="Segoe UI"/>
              </a:rPr>
              <a:t>UPI</a:t>
            </a:r>
          </a:p>
        </p:txBody>
      </p:sp>
      <p:sp>
        <p:nvSpPr>
          <p:cNvPr id="13" name="TextBox 12"/>
          <p:cNvSpPr txBox="1"/>
          <p:nvPr/>
        </p:nvSpPr>
        <p:spPr>
          <a:xfrm>
            <a:off x="7680960" y="2788920"/>
            <a:ext cx="2560320" cy="411480"/>
          </a:xfrm>
          <a:prstGeom prst="rect">
            <a:avLst/>
          </a:prstGeom>
          <a:noFill/>
        </p:spPr>
        <p:txBody>
          <a:bodyPr wrap="square" anchor="ctr">
            <a:spAutoFit/>
          </a:bodyPr>
          <a:lstStyle/>
          <a:p>
            <a:pPr algn="r"/>
            <a:r>
              <a:rPr sz="1500" b="1">
                <a:solidFill>
                  <a:srgbClr val="2563EB"/>
                </a:solidFill>
                <a:latin typeface="Segoe UI"/>
              </a:rPr>
              <a:t>₹398K–₹405K</a:t>
            </a:r>
          </a:p>
        </p:txBody>
      </p:sp>
      <p:sp>
        <p:nvSpPr>
          <p:cNvPr id="14" name="TextBox 13"/>
          <p:cNvSpPr txBox="1"/>
          <p:nvPr/>
        </p:nvSpPr>
        <p:spPr>
          <a:xfrm>
            <a:off x="5394960" y="3474720"/>
            <a:ext cx="2011680" cy="411480"/>
          </a:xfrm>
          <a:prstGeom prst="rect">
            <a:avLst/>
          </a:prstGeom>
          <a:noFill/>
        </p:spPr>
        <p:txBody>
          <a:bodyPr wrap="square" anchor="ctr">
            <a:spAutoFit/>
          </a:bodyPr>
          <a:lstStyle/>
          <a:p>
            <a:pPr algn="l"/>
            <a:r>
              <a:rPr sz="1500" b="1">
                <a:solidFill>
                  <a:srgbClr val="172033"/>
                </a:solidFill>
                <a:latin typeface="Segoe UI"/>
              </a:rPr>
              <a:t>Debit Card</a:t>
            </a:r>
          </a:p>
        </p:txBody>
      </p:sp>
      <p:sp>
        <p:nvSpPr>
          <p:cNvPr id="15" name="TextBox 14"/>
          <p:cNvSpPr txBox="1"/>
          <p:nvPr/>
        </p:nvSpPr>
        <p:spPr>
          <a:xfrm>
            <a:off x="7680960" y="3474720"/>
            <a:ext cx="2560320" cy="411480"/>
          </a:xfrm>
          <a:prstGeom prst="rect">
            <a:avLst/>
          </a:prstGeom>
          <a:noFill/>
        </p:spPr>
        <p:txBody>
          <a:bodyPr wrap="square" anchor="ctr">
            <a:spAutoFit/>
          </a:bodyPr>
          <a:lstStyle/>
          <a:p>
            <a:pPr algn="r"/>
            <a:r>
              <a:rPr sz="1500" b="1">
                <a:solidFill>
                  <a:srgbClr val="2563EB"/>
                </a:solidFill>
                <a:latin typeface="Segoe UI"/>
              </a:rPr>
              <a:t>₹398K–₹405K</a:t>
            </a:r>
          </a:p>
        </p:txBody>
      </p:sp>
      <p:sp>
        <p:nvSpPr>
          <p:cNvPr id="16" name="TextBox 15"/>
          <p:cNvSpPr txBox="1"/>
          <p:nvPr/>
        </p:nvSpPr>
        <p:spPr>
          <a:xfrm>
            <a:off x="5394960" y="4160520"/>
            <a:ext cx="2011680" cy="411480"/>
          </a:xfrm>
          <a:prstGeom prst="rect">
            <a:avLst/>
          </a:prstGeom>
          <a:noFill/>
        </p:spPr>
        <p:txBody>
          <a:bodyPr wrap="square" anchor="ctr">
            <a:spAutoFit/>
          </a:bodyPr>
          <a:lstStyle/>
          <a:p>
            <a:pPr algn="l"/>
            <a:r>
              <a:rPr sz="1500" b="1">
                <a:solidFill>
                  <a:srgbClr val="172033"/>
                </a:solidFill>
                <a:latin typeface="Segoe UI"/>
              </a:rPr>
              <a:t>Cash on Delivery</a:t>
            </a:r>
          </a:p>
        </p:txBody>
      </p:sp>
      <p:sp>
        <p:nvSpPr>
          <p:cNvPr id="17" name="TextBox 16"/>
          <p:cNvSpPr txBox="1"/>
          <p:nvPr/>
        </p:nvSpPr>
        <p:spPr>
          <a:xfrm>
            <a:off x="7680960" y="4160520"/>
            <a:ext cx="2560320" cy="411480"/>
          </a:xfrm>
          <a:prstGeom prst="rect">
            <a:avLst/>
          </a:prstGeom>
          <a:noFill/>
        </p:spPr>
        <p:txBody>
          <a:bodyPr wrap="square" anchor="ctr">
            <a:spAutoFit/>
          </a:bodyPr>
          <a:lstStyle/>
          <a:p>
            <a:pPr algn="r"/>
            <a:r>
              <a:rPr sz="1500" b="1">
                <a:solidFill>
                  <a:srgbClr val="2563EB"/>
                </a:solidFill>
                <a:latin typeface="Segoe UI"/>
              </a:rPr>
              <a:t>₹398K–₹405K</a:t>
            </a:r>
          </a:p>
        </p:txBody>
      </p:sp>
      <p:sp>
        <p:nvSpPr>
          <p:cNvPr id="18" name="TextBox 17"/>
          <p:cNvSpPr txBox="1"/>
          <p:nvPr/>
        </p:nvSpPr>
        <p:spPr>
          <a:xfrm>
            <a:off x="5394960" y="4892040"/>
            <a:ext cx="5486400" cy="411480"/>
          </a:xfrm>
          <a:prstGeom prst="rect">
            <a:avLst/>
          </a:prstGeom>
          <a:noFill/>
        </p:spPr>
        <p:txBody>
          <a:bodyPr wrap="square" anchor="ctr">
            <a:spAutoFit/>
          </a:bodyPr>
          <a:lstStyle/>
          <a:p>
            <a:pPr algn="ctr"/>
            <a:r>
              <a:rPr sz="1300" b="0">
                <a:solidFill>
                  <a:srgbClr val="64748B"/>
                </a:solidFill>
                <a:latin typeface="Segoe UI"/>
              </a:rPr>
              <a:t>Three channels perform in a similar range; Credit Card is the clear outlier.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1155680" cy="502920"/>
          </a:xfrm>
          <a:prstGeom prst="rect">
            <a:avLst/>
          </a:prstGeom>
          <a:noFill/>
        </p:spPr>
        <p:txBody>
          <a:bodyPr wrap="square" anchor="ctr">
            <a:spAutoFit/>
          </a:bodyPr>
          <a:lstStyle/>
          <a:p>
            <a:pPr algn="l"/>
            <a:r>
              <a:rPr sz="3000" b="1">
                <a:solidFill>
                  <a:srgbClr val="172033"/>
                </a:solidFill>
                <a:latin typeface="Segoe UI"/>
              </a:rPr>
              <a:t>Three Actions for Q4</a:t>
            </a:r>
          </a:p>
        </p:txBody>
      </p:sp>
      <p:sp>
        <p:nvSpPr>
          <p:cNvPr id="4" name="TextBox 3"/>
          <p:cNvSpPr txBox="1"/>
          <p:nvPr/>
        </p:nvSpPr>
        <p:spPr>
          <a:xfrm>
            <a:off x="530352" y="841248"/>
            <a:ext cx="10972800" cy="365760"/>
          </a:xfrm>
          <a:prstGeom prst="rect">
            <a:avLst/>
          </a:prstGeom>
          <a:noFill/>
        </p:spPr>
        <p:txBody>
          <a:bodyPr wrap="square" anchor="ctr">
            <a:spAutoFit/>
          </a:bodyPr>
          <a:lstStyle/>
          <a:p>
            <a:pPr algn="l"/>
            <a:r>
              <a:rPr sz="1500" b="0">
                <a:solidFill>
                  <a:srgbClr val="64748B"/>
                </a:solidFill>
                <a:latin typeface="Segoe UI"/>
              </a:rPr>
              <a:t>Turn the findings into focused business action.</a:t>
            </a:r>
          </a:p>
        </p:txBody>
      </p:sp>
      <p:sp>
        <p:nvSpPr>
          <p:cNvPr id="5" name="Rounded Rectangle 4"/>
          <p:cNvSpPr/>
          <p:nvPr/>
        </p:nvSpPr>
        <p:spPr>
          <a:xfrm>
            <a:off x="594360" y="1691640"/>
            <a:ext cx="10972800" cy="1188720"/>
          </a:xfrm>
          <a:prstGeom prst="roundRect">
            <a:avLst/>
          </a:prstGeom>
          <a:solidFill>
            <a:srgbClr val="FFFFFF"/>
          </a:solidFill>
          <a:ln>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874520"/>
            <a:ext cx="548640" cy="457200"/>
          </a:xfrm>
          <a:prstGeom prst="rect">
            <a:avLst/>
          </a:prstGeom>
          <a:noFill/>
        </p:spPr>
        <p:txBody>
          <a:bodyPr wrap="square" anchor="ctr">
            <a:spAutoFit/>
          </a:bodyPr>
          <a:lstStyle/>
          <a:p>
            <a:pPr algn="ctr"/>
            <a:r>
              <a:rPr sz="1700" b="1">
                <a:solidFill>
                  <a:srgbClr val="DC2626"/>
                </a:solidFill>
                <a:latin typeface="Segoe UI"/>
              </a:rPr>
              <a:t>01</a:t>
            </a:r>
          </a:p>
        </p:txBody>
      </p:sp>
      <p:sp>
        <p:nvSpPr>
          <p:cNvPr id="7" name="TextBox 6"/>
          <p:cNvSpPr txBox="1"/>
          <p:nvPr/>
        </p:nvSpPr>
        <p:spPr>
          <a:xfrm>
            <a:off x="1463040" y="1801368"/>
            <a:ext cx="5303520" cy="365760"/>
          </a:xfrm>
          <a:prstGeom prst="rect">
            <a:avLst/>
          </a:prstGeom>
          <a:noFill/>
        </p:spPr>
        <p:txBody>
          <a:bodyPr wrap="square" anchor="ctr">
            <a:spAutoFit/>
          </a:bodyPr>
          <a:lstStyle/>
          <a:p>
            <a:pPr algn="l"/>
            <a:r>
              <a:rPr sz="1700" b="1">
                <a:solidFill>
                  <a:srgbClr val="DC2626"/>
                </a:solidFill>
                <a:latin typeface="Segoe UI"/>
              </a:rPr>
              <a:t>Recover the Revenue Trend</a:t>
            </a:r>
          </a:p>
        </p:txBody>
      </p:sp>
      <p:sp>
        <p:nvSpPr>
          <p:cNvPr id="8" name="TextBox 7"/>
          <p:cNvSpPr txBox="1"/>
          <p:nvPr/>
        </p:nvSpPr>
        <p:spPr>
          <a:xfrm>
            <a:off x="1463040" y="2167128"/>
            <a:ext cx="6858000" cy="320040"/>
          </a:xfrm>
          <a:prstGeom prst="rect">
            <a:avLst/>
          </a:prstGeom>
          <a:noFill/>
        </p:spPr>
        <p:txBody>
          <a:bodyPr wrap="square" anchor="ctr">
            <a:spAutoFit/>
          </a:bodyPr>
          <a:lstStyle/>
          <a:p>
            <a:pPr algn="l"/>
            <a:r>
              <a:rPr sz="1400" b="1">
                <a:solidFill>
                  <a:srgbClr val="172033"/>
                </a:solidFill>
                <a:latin typeface="Segoe UI"/>
              </a:rPr>
              <a:t>Launch a Q4 retention &amp; recovery campaign.</a:t>
            </a:r>
          </a:p>
        </p:txBody>
      </p:sp>
      <p:sp>
        <p:nvSpPr>
          <p:cNvPr id="9" name="TextBox 8"/>
          <p:cNvSpPr txBox="1"/>
          <p:nvPr/>
        </p:nvSpPr>
        <p:spPr>
          <a:xfrm>
            <a:off x="1463040" y="2487168"/>
            <a:ext cx="6858000" cy="320040"/>
          </a:xfrm>
          <a:prstGeom prst="rect">
            <a:avLst/>
          </a:prstGeom>
          <a:noFill/>
        </p:spPr>
        <p:txBody>
          <a:bodyPr wrap="square" anchor="ctr">
            <a:spAutoFit/>
          </a:bodyPr>
          <a:lstStyle/>
          <a:p>
            <a:pPr algn="l"/>
            <a:r>
              <a:rPr sz="1100" b="0">
                <a:solidFill>
                  <a:srgbClr val="64748B"/>
                </a:solidFill>
                <a:latin typeface="Segoe UI"/>
              </a:rPr>
              <a:t>First diagnose whether the decline is volume-driven or value-driven before committing budget.</a:t>
            </a:r>
          </a:p>
        </p:txBody>
      </p:sp>
      <p:sp>
        <p:nvSpPr>
          <p:cNvPr id="10" name="Rounded Rectangle 9"/>
          <p:cNvSpPr/>
          <p:nvPr/>
        </p:nvSpPr>
        <p:spPr>
          <a:xfrm>
            <a:off x="9464040" y="2039112"/>
            <a:ext cx="1554480" cy="45720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509760" y="2121408"/>
            <a:ext cx="1463040" cy="274320"/>
          </a:xfrm>
          <a:prstGeom prst="rect">
            <a:avLst/>
          </a:prstGeom>
          <a:noFill/>
        </p:spPr>
        <p:txBody>
          <a:bodyPr wrap="square" anchor="ctr">
            <a:spAutoFit/>
          </a:bodyPr>
          <a:lstStyle/>
          <a:p>
            <a:pPr algn="ctr"/>
            <a:r>
              <a:rPr sz="1000" b="1">
                <a:solidFill>
                  <a:srgbClr val="DC2626"/>
                </a:solidFill>
                <a:latin typeface="Segoe UI"/>
              </a:rPr>
              <a:t>URGENT</a:t>
            </a:r>
          </a:p>
        </p:txBody>
      </p:sp>
      <p:sp>
        <p:nvSpPr>
          <p:cNvPr id="12" name="Rounded Rectangle 11"/>
          <p:cNvSpPr/>
          <p:nvPr/>
        </p:nvSpPr>
        <p:spPr>
          <a:xfrm>
            <a:off x="594360" y="3108960"/>
            <a:ext cx="10972800" cy="1188720"/>
          </a:xfrm>
          <a:prstGeom prst="roundRect">
            <a:avLst/>
          </a:prstGeom>
          <a:solidFill>
            <a:srgbClr val="FFFFFF"/>
          </a:solidFill>
          <a:ln>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2960" y="3291840"/>
            <a:ext cx="548640" cy="457200"/>
          </a:xfrm>
          <a:prstGeom prst="rect">
            <a:avLst/>
          </a:prstGeom>
          <a:noFill/>
        </p:spPr>
        <p:txBody>
          <a:bodyPr wrap="square" anchor="ctr">
            <a:spAutoFit/>
          </a:bodyPr>
          <a:lstStyle/>
          <a:p>
            <a:pPr algn="ctr"/>
            <a:r>
              <a:rPr sz="1700" b="1">
                <a:solidFill>
                  <a:srgbClr val="2563EB"/>
                </a:solidFill>
                <a:latin typeface="Segoe UI"/>
              </a:rPr>
              <a:t>02</a:t>
            </a:r>
          </a:p>
        </p:txBody>
      </p:sp>
      <p:sp>
        <p:nvSpPr>
          <p:cNvPr id="14" name="TextBox 13"/>
          <p:cNvSpPr txBox="1"/>
          <p:nvPr/>
        </p:nvSpPr>
        <p:spPr>
          <a:xfrm>
            <a:off x="1463040" y="3218688"/>
            <a:ext cx="5303520" cy="365760"/>
          </a:xfrm>
          <a:prstGeom prst="rect">
            <a:avLst/>
          </a:prstGeom>
          <a:noFill/>
        </p:spPr>
        <p:txBody>
          <a:bodyPr wrap="square" anchor="ctr">
            <a:spAutoFit/>
          </a:bodyPr>
          <a:lstStyle/>
          <a:p>
            <a:pPr algn="l"/>
            <a:r>
              <a:rPr sz="1700" b="1">
                <a:solidFill>
                  <a:srgbClr val="2563EB"/>
                </a:solidFill>
                <a:latin typeface="Segoe UI"/>
              </a:rPr>
              <a:t>Double Down on Proven Strength</a:t>
            </a:r>
          </a:p>
        </p:txBody>
      </p:sp>
      <p:sp>
        <p:nvSpPr>
          <p:cNvPr id="15" name="TextBox 14"/>
          <p:cNvSpPr txBox="1"/>
          <p:nvPr/>
        </p:nvSpPr>
        <p:spPr>
          <a:xfrm>
            <a:off x="1463040" y="3584448"/>
            <a:ext cx="6858000" cy="320040"/>
          </a:xfrm>
          <a:prstGeom prst="rect">
            <a:avLst/>
          </a:prstGeom>
          <a:noFill/>
        </p:spPr>
        <p:txBody>
          <a:bodyPr wrap="square" anchor="ctr">
            <a:spAutoFit/>
          </a:bodyPr>
          <a:lstStyle/>
          <a:p>
            <a:pPr algn="l"/>
            <a:r>
              <a:rPr sz="1400" b="1">
                <a:solidFill>
                  <a:srgbClr val="172033"/>
                </a:solidFill>
                <a:latin typeface="Segoe UI"/>
              </a:rPr>
              <a:t>Prioritize inventory and marketing spend on Storage × South/East.</a:t>
            </a:r>
          </a:p>
        </p:txBody>
      </p:sp>
      <p:sp>
        <p:nvSpPr>
          <p:cNvPr id="16" name="TextBox 15"/>
          <p:cNvSpPr txBox="1"/>
          <p:nvPr/>
        </p:nvSpPr>
        <p:spPr>
          <a:xfrm>
            <a:off x="1463040" y="3904488"/>
            <a:ext cx="6858000" cy="320040"/>
          </a:xfrm>
          <a:prstGeom prst="rect">
            <a:avLst/>
          </a:prstGeom>
          <a:noFill/>
        </p:spPr>
        <p:txBody>
          <a:bodyPr wrap="square" anchor="ctr">
            <a:spAutoFit/>
          </a:bodyPr>
          <a:lstStyle/>
          <a:p>
            <a:pPr algn="l"/>
            <a:r>
              <a:rPr sz="1100" b="0">
                <a:solidFill>
                  <a:srgbClr val="64748B"/>
                </a:solidFill>
                <a:latin typeface="Segoe UI"/>
              </a:rPr>
              <a:t>Protect the strongest existing revenue engine instead of spreading resources evenly.</a:t>
            </a:r>
          </a:p>
        </p:txBody>
      </p:sp>
      <p:sp>
        <p:nvSpPr>
          <p:cNvPr id="17" name="Rounded Rectangle 16"/>
          <p:cNvSpPr/>
          <p:nvPr/>
        </p:nvSpPr>
        <p:spPr>
          <a:xfrm>
            <a:off x="9464040" y="3456432"/>
            <a:ext cx="1554480" cy="45720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509760" y="3538728"/>
            <a:ext cx="1463040" cy="274320"/>
          </a:xfrm>
          <a:prstGeom prst="rect">
            <a:avLst/>
          </a:prstGeom>
          <a:noFill/>
        </p:spPr>
        <p:txBody>
          <a:bodyPr wrap="square" anchor="ctr">
            <a:spAutoFit/>
          </a:bodyPr>
          <a:lstStyle/>
          <a:p>
            <a:pPr algn="ctr"/>
            <a:r>
              <a:rPr sz="1000" b="1">
                <a:solidFill>
                  <a:srgbClr val="2563EB"/>
                </a:solidFill>
                <a:latin typeface="Segoe UI"/>
              </a:rPr>
              <a:t>HIGH</a:t>
            </a:r>
          </a:p>
        </p:txBody>
      </p:sp>
      <p:sp>
        <p:nvSpPr>
          <p:cNvPr id="19" name="Rounded Rectangle 18"/>
          <p:cNvSpPr/>
          <p:nvPr/>
        </p:nvSpPr>
        <p:spPr>
          <a:xfrm>
            <a:off x="594360" y="4526280"/>
            <a:ext cx="10972800" cy="1188720"/>
          </a:xfrm>
          <a:prstGeom prst="roundRect">
            <a:avLst/>
          </a:prstGeom>
          <a:solidFill>
            <a:srgbClr val="FFFFFF"/>
          </a:solidFill>
          <a:ln>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2960" y="4709160"/>
            <a:ext cx="548640" cy="457200"/>
          </a:xfrm>
          <a:prstGeom prst="rect">
            <a:avLst/>
          </a:prstGeom>
          <a:noFill/>
        </p:spPr>
        <p:txBody>
          <a:bodyPr wrap="square" anchor="ctr">
            <a:spAutoFit/>
          </a:bodyPr>
          <a:lstStyle/>
          <a:p>
            <a:pPr algn="ctr"/>
            <a:r>
              <a:rPr sz="1700" b="1">
                <a:solidFill>
                  <a:srgbClr val="12355B"/>
                </a:solidFill>
                <a:latin typeface="Segoe UI"/>
              </a:rPr>
              <a:t>03</a:t>
            </a:r>
          </a:p>
        </p:txBody>
      </p:sp>
      <p:sp>
        <p:nvSpPr>
          <p:cNvPr id="21" name="TextBox 20"/>
          <p:cNvSpPr txBox="1"/>
          <p:nvPr/>
        </p:nvSpPr>
        <p:spPr>
          <a:xfrm>
            <a:off x="1463040" y="4636008"/>
            <a:ext cx="5303520" cy="365760"/>
          </a:xfrm>
          <a:prstGeom prst="rect">
            <a:avLst/>
          </a:prstGeom>
          <a:noFill/>
        </p:spPr>
        <p:txBody>
          <a:bodyPr wrap="square" anchor="ctr">
            <a:spAutoFit/>
          </a:bodyPr>
          <a:lstStyle/>
          <a:p>
            <a:pPr algn="l"/>
            <a:r>
              <a:rPr sz="1700" b="1">
                <a:solidFill>
                  <a:srgbClr val="12355B"/>
                </a:solidFill>
                <a:latin typeface="Segoe UI"/>
              </a:rPr>
              <a:t>Fix the Credit Card Gap</a:t>
            </a:r>
          </a:p>
        </p:txBody>
      </p:sp>
      <p:sp>
        <p:nvSpPr>
          <p:cNvPr id="22" name="TextBox 21"/>
          <p:cNvSpPr txBox="1"/>
          <p:nvPr/>
        </p:nvSpPr>
        <p:spPr>
          <a:xfrm>
            <a:off x="1463040" y="5001768"/>
            <a:ext cx="6858000" cy="320040"/>
          </a:xfrm>
          <a:prstGeom prst="rect">
            <a:avLst/>
          </a:prstGeom>
          <a:noFill/>
        </p:spPr>
        <p:txBody>
          <a:bodyPr wrap="square" anchor="ctr">
            <a:spAutoFit/>
          </a:bodyPr>
          <a:lstStyle/>
          <a:p>
            <a:pPr algn="l"/>
            <a:r>
              <a:rPr sz="1400" b="1">
                <a:solidFill>
                  <a:srgbClr val="172033"/>
                </a:solidFill>
                <a:latin typeface="Segoe UI"/>
              </a:rPr>
              <a:t>Audit the Credit Card checkout experience.</a:t>
            </a:r>
          </a:p>
        </p:txBody>
      </p:sp>
      <p:sp>
        <p:nvSpPr>
          <p:cNvPr id="23" name="TextBox 22"/>
          <p:cNvSpPr txBox="1"/>
          <p:nvPr/>
        </p:nvSpPr>
        <p:spPr>
          <a:xfrm>
            <a:off x="1463040" y="5321808"/>
            <a:ext cx="6858000" cy="320040"/>
          </a:xfrm>
          <a:prstGeom prst="rect">
            <a:avLst/>
          </a:prstGeom>
          <a:noFill/>
        </p:spPr>
        <p:txBody>
          <a:bodyPr wrap="square" anchor="ctr">
            <a:spAutoFit/>
          </a:bodyPr>
          <a:lstStyle/>
          <a:p>
            <a:pPr algn="l"/>
            <a:r>
              <a:rPr sz="1100" b="0">
                <a:solidFill>
                  <a:srgbClr val="64748B"/>
                </a:solidFill>
                <a:latin typeface="Segoe UI"/>
              </a:rPr>
              <a:t>Investigate payment failures, UX friction, authorization issues and customer behavior.</a:t>
            </a:r>
          </a:p>
        </p:txBody>
      </p:sp>
      <p:sp>
        <p:nvSpPr>
          <p:cNvPr id="24" name="Rounded Rectangle 23"/>
          <p:cNvSpPr/>
          <p:nvPr/>
        </p:nvSpPr>
        <p:spPr>
          <a:xfrm>
            <a:off x="9464040" y="4873752"/>
            <a:ext cx="1554480" cy="45720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509760" y="4956048"/>
            <a:ext cx="1463040" cy="274320"/>
          </a:xfrm>
          <a:prstGeom prst="rect">
            <a:avLst/>
          </a:prstGeom>
          <a:noFill/>
        </p:spPr>
        <p:txBody>
          <a:bodyPr wrap="square" anchor="ctr">
            <a:spAutoFit/>
          </a:bodyPr>
          <a:lstStyle/>
          <a:p>
            <a:pPr algn="ctr"/>
            <a:r>
              <a:rPr sz="1000" b="1">
                <a:solidFill>
                  <a:srgbClr val="12355B"/>
                </a:solidFill>
                <a:latin typeface="Segoe UI"/>
              </a:rPr>
              <a:t>TARGETED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914400" y="1508760"/>
            <a:ext cx="1097280"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828800"/>
            <a:ext cx="10058400" cy="822960"/>
          </a:xfrm>
          <a:prstGeom prst="rect">
            <a:avLst/>
          </a:prstGeom>
          <a:noFill/>
        </p:spPr>
        <p:txBody>
          <a:bodyPr wrap="square" anchor="ctr">
            <a:spAutoFit/>
          </a:bodyPr>
          <a:lstStyle/>
          <a:p>
            <a:pPr algn="l"/>
            <a:r>
              <a:rPr sz="4400" b="1">
                <a:solidFill>
                  <a:srgbClr val="FFFFFF"/>
                </a:solidFill>
                <a:latin typeface="Segoe UI"/>
              </a:rPr>
              <a:t>Thank You</a:t>
            </a:r>
          </a:p>
        </p:txBody>
      </p:sp>
      <p:sp>
        <p:nvSpPr>
          <p:cNvPr id="5" name="TextBox 4"/>
          <p:cNvSpPr txBox="1"/>
          <p:nvPr/>
        </p:nvSpPr>
        <p:spPr>
          <a:xfrm>
            <a:off x="960120" y="2743200"/>
            <a:ext cx="10058400" cy="640080"/>
          </a:xfrm>
          <a:prstGeom prst="rect">
            <a:avLst/>
          </a:prstGeom>
          <a:noFill/>
        </p:spPr>
        <p:txBody>
          <a:bodyPr wrap="square" anchor="ctr">
            <a:spAutoFit/>
          </a:bodyPr>
          <a:lstStyle/>
          <a:p>
            <a:pPr algn="l"/>
            <a:r>
              <a:rPr sz="2800" b="1">
                <a:solidFill>
                  <a:srgbClr val="3B82F6"/>
                </a:solidFill>
                <a:latin typeface="Segoe UI"/>
              </a:rPr>
              <a:t>Questions?</a:t>
            </a:r>
          </a:p>
        </p:txBody>
      </p:sp>
      <p:sp>
        <p:nvSpPr>
          <p:cNvPr id="6" name="TextBox 5"/>
          <p:cNvSpPr txBox="1"/>
          <p:nvPr/>
        </p:nvSpPr>
        <p:spPr>
          <a:xfrm>
            <a:off x="960120" y="3840480"/>
            <a:ext cx="9875520" cy="548640"/>
          </a:xfrm>
          <a:prstGeom prst="rect">
            <a:avLst/>
          </a:prstGeom>
          <a:noFill/>
        </p:spPr>
        <p:txBody>
          <a:bodyPr wrap="square" anchor="ctr">
            <a:spAutoFit/>
          </a:bodyPr>
          <a:lstStyle/>
          <a:p>
            <a:pPr algn="l"/>
            <a:r>
              <a:rPr sz="1500" b="0">
                <a:solidFill>
                  <a:srgbClr val="DBEAFE"/>
                </a:solidFill>
                <a:latin typeface="Segoe UI"/>
              </a:rPr>
              <a:t>Full analysis, code and dashboard available in the project repository.</a:t>
            </a:r>
          </a:p>
        </p:txBody>
      </p:sp>
      <p:sp>
        <p:nvSpPr>
          <p:cNvPr id="7" name="TextBox 6"/>
          <p:cNvSpPr txBox="1"/>
          <p:nvPr/>
        </p:nvSpPr>
        <p:spPr>
          <a:xfrm>
            <a:off x="960120" y="4800600"/>
            <a:ext cx="2743200" cy="365760"/>
          </a:xfrm>
          <a:prstGeom prst="rect">
            <a:avLst/>
          </a:prstGeom>
          <a:noFill/>
        </p:spPr>
        <p:txBody>
          <a:bodyPr wrap="square" anchor="ctr">
            <a:spAutoFit/>
          </a:bodyPr>
          <a:lstStyle/>
          <a:p>
            <a:pPr algn="l"/>
            <a:r>
              <a:rPr sz="1700" b="1">
                <a:solidFill>
                  <a:srgbClr val="FFFFFF"/>
                </a:solidFill>
                <a:latin typeface="Segoe UI"/>
              </a:rPr>
              <a:t>Python</a:t>
            </a:r>
          </a:p>
        </p:txBody>
      </p:sp>
      <p:sp>
        <p:nvSpPr>
          <p:cNvPr id="8" name="TextBox 7"/>
          <p:cNvSpPr txBox="1"/>
          <p:nvPr/>
        </p:nvSpPr>
        <p:spPr>
          <a:xfrm>
            <a:off x="960120" y="5230368"/>
            <a:ext cx="2743200" cy="411480"/>
          </a:xfrm>
          <a:prstGeom prst="rect">
            <a:avLst/>
          </a:prstGeom>
          <a:noFill/>
        </p:spPr>
        <p:txBody>
          <a:bodyPr wrap="square" anchor="ctr">
            <a:spAutoFit/>
          </a:bodyPr>
          <a:lstStyle/>
          <a:p>
            <a:pPr algn="l"/>
            <a:r>
              <a:rPr sz="1300" b="0">
                <a:solidFill>
                  <a:srgbClr val="64748B"/>
                </a:solidFill>
                <a:latin typeface="Segoe UI"/>
              </a:rPr>
              <a:t>Data Cleaning + EDA</a:t>
            </a:r>
          </a:p>
        </p:txBody>
      </p:sp>
      <p:sp>
        <p:nvSpPr>
          <p:cNvPr id="9" name="TextBox 8"/>
          <p:cNvSpPr txBox="1"/>
          <p:nvPr/>
        </p:nvSpPr>
        <p:spPr>
          <a:xfrm>
            <a:off x="4114800" y="4800600"/>
            <a:ext cx="2743200" cy="365760"/>
          </a:xfrm>
          <a:prstGeom prst="rect">
            <a:avLst/>
          </a:prstGeom>
          <a:noFill/>
        </p:spPr>
        <p:txBody>
          <a:bodyPr wrap="square" anchor="ctr">
            <a:spAutoFit/>
          </a:bodyPr>
          <a:lstStyle/>
          <a:p>
            <a:pPr algn="l"/>
            <a:r>
              <a:rPr sz="1700" b="1">
                <a:solidFill>
                  <a:srgbClr val="FFFFFF"/>
                </a:solidFill>
                <a:latin typeface="Segoe UI"/>
              </a:rPr>
              <a:t>Power BI</a:t>
            </a:r>
          </a:p>
        </p:txBody>
      </p:sp>
      <p:sp>
        <p:nvSpPr>
          <p:cNvPr id="10" name="TextBox 9"/>
          <p:cNvSpPr txBox="1"/>
          <p:nvPr/>
        </p:nvSpPr>
        <p:spPr>
          <a:xfrm>
            <a:off x="4114800" y="5230368"/>
            <a:ext cx="2743200" cy="411480"/>
          </a:xfrm>
          <a:prstGeom prst="rect">
            <a:avLst/>
          </a:prstGeom>
          <a:noFill/>
        </p:spPr>
        <p:txBody>
          <a:bodyPr wrap="square" anchor="ctr">
            <a:spAutoFit/>
          </a:bodyPr>
          <a:lstStyle/>
          <a:p>
            <a:pPr algn="l"/>
            <a:r>
              <a:rPr sz="1300" b="0">
                <a:solidFill>
                  <a:srgbClr val="64748B"/>
                </a:solidFill>
                <a:latin typeface="Segoe UI"/>
              </a:rPr>
              <a:t>Interactive Dashboard</a:t>
            </a:r>
          </a:p>
        </p:txBody>
      </p:sp>
      <p:sp>
        <p:nvSpPr>
          <p:cNvPr id="11" name="TextBox 10"/>
          <p:cNvSpPr txBox="1"/>
          <p:nvPr/>
        </p:nvSpPr>
        <p:spPr>
          <a:xfrm>
            <a:off x="7315200" y="4800600"/>
            <a:ext cx="2743200" cy="365760"/>
          </a:xfrm>
          <a:prstGeom prst="rect">
            <a:avLst/>
          </a:prstGeom>
          <a:noFill/>
        </p:spPr>
        <p:txBody>
          <a:bodyPr wrap="square" anchor="ctr">
            <a:spAutoFit/>
          </a:bodyPr>
          <a:lstStyle/>
          <a:p>
            <a:pPr algn="l"/>
            <a:r>
              <a:rPr sz="1700" b="1">
                <a:solidFill>
                  <a:srgbClr val="FFFFFF"/>
                </a:solidFill>
                <a:latin typeface="Segoe UI"/>
              </a:rPr>
              <a:t>GitHub</a:t>
            </a:r>
          </a:p>
        </p:txBody>
      </p:sp>
      <p:sp>
        <p:nvSpPr>
          <p:cNvPr id="12" name="TextBox 11"/>
          <p:cNvSpPr txBox="1"/>
          <p:nvPr/>
        </p:nvSpPr>
        <p:spPr>
          <a:xfrm>
            <a:off x="7315200" y="5230368"/>
            <a:ext cx="2743200" cy="411480"/>
          </a:xfrm>
          <a:prstGeom prst="rect">
            <a:avLst/>
          </a:prstGeom>
          <a:noFill/>
        </p:spPr>
        <p:txBody>
          <a:bodyPr wrap="square" anchor="ctr">
            <a:spAutoFit/>
          </a:bodyPr>
          <a:lstStyle/>
          <a:p>
            <a:pPr algn="l"/>
            <a:r>
              <a:rPr sz="1300" b="0">
                <a:solidFill>
                  <a:srgbClr val="64748B"/>
                </a:solidFill>
                <a:latin typeface="Segoe UI"/>
              </a:rPr>
              <a:t>Code + Documentation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933</Words>
  <Application>Microsoft Office PowerPoint</Application>
  <PresentationFormat>Widescreen</PresentationFormat>
  <Paragraphs>112</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Microsoft account</cp:lastModifiedBy>
  <cp:revision>3</cp:revision>
  <dcterms:created xsi:type="dcterms:W3CDTF">2013-01-27T09:14:16Z</dcterms:created>
  <dcterms:modified xsi:type="dcterms:W3CDTF">2026-09-11T10:23:36Z</dcterms:modified>
  <cp:category/>
</cp:coreProperties>
</file>